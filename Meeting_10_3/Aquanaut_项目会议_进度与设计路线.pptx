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开场 30 秒。今天不是汇报工作量，是来过一遍设计路线，并且当场拍板几件事。四块内容：进度、路线、线索、未来。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如果今天只有一页被记住，就是这页。四个判断：骨架已成、路线是加认知不是加内容、线索靠两种来源三种载体、未来从看鱼到养鱼。念完直接进议程。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强调「想对齐三件事」，尤其是优先级那一条——今天必须给出结论。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过渡页。一句话：从一个空工程，到现在真的可以潜下去。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数字不要一个个念。只讲三个：613 个源文件 / 5.16 万行；164 物品 + 100 方块 + 45 实体 + 6 群系；73 个测试类。重点是最后那句——common 占 66%，说明投入在玩法与世界生成，加内容的边际成本很低。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盘点资产，目的是让大家对「手里有什么」有共同语言。生物分三档是为了后面讲节奏；装备五阶是为了后面讲技术锁；世界四带是为了后面讲海洋探索。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这是第一把锁的实物。重点讲氮醉：用的是归一化静水压而不是绝对深度，所以换世界类型也一致。玩家第一次头晕时不会意识到是设计，只会觉得「下面不对劲」——正好。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技术性最强的一页，控制时间。三个点：不新增维度，改写原版深海柱体；列规划器不跨区块，所以接缝不可能出现；数据驱动到数据包可以自己加层。火山破顶那条是「物理连通两层」的关键设计。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仪器这一页要讲清定位：它们是感官的延伸，不是武器，也不是雷达。探测器给的是原始数据。最后那句原则念出来，它是第三部分的总纲。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笔记的四阶段。要强调「未解锁是占位不是消失」——玩家知道这里还有一页，这是驱动力的来源。右侧两条是真实条目文本，念一条，让大家听语气。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调查板是「零散化主线」的容器。左边讲机制，右边念 K-17 的四条便笺。念完说一句：这四条没有一条告诉玩家该去哪。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装置与养殖的现状。落点在最后一句：养死一条鱼在技术上已经成立，缺的是知识层——正好是第四部分要补的。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这一页是给「能不能持续做下去」的答案。四个点里最重要的是「不写跨区块」和「注释记录为什么」。最后一句：内容的边际成本已经被压低。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过渡页。第二部分是今天的核心：设计路线。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全场最重要的一页。三层锁：物理锁、技术锁、认知锁。要讲清楚为什么必须三层——只有技术锁会退化成科技树，只有物理锁会变成硬核生存。三层同时存在，理解才成为唯一的通关方式。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三个例子分别对应三层锁。第二个例子（水晶巢）可以展开讲：方块光无法跟随玩家，插火把没意义，所以玩家必须先解决「看见」——这是物理限制逼出来的技术需求。第三个例子（噬矿鱼）是认知锁，先埋个伏笔，第四部分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对比表。念两行就够，重点是最后那句：真正的对手是玩家的「我已经知道了」。所以内容要可被发现，不可被查询。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每一层给一个新问题，不给更强的怪。四个问题从左到右念一遍，节奏感就有了。收尾那句：深度是唯一的进度条。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博物学是外壳，科研是方法。右边五步闭环要讲成动词。底部三档门槛是关键设计：低门槛保证任何人都有进展感，高门槛保证只有真的下去过的人才拿得到。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零散化主线的定义。三条硬约束是给内容作者的红线，尤其第二条「可复现」——错过一次不能永久卡死。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把六步当成一个故事讲完，中途不要停。讲完再回来说：这六步里玩家从来没有被给过任务。这是全场最有说服力的一页之一。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过渡页。第三部分是今天最需要形成规范的部分。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两种来源（遗留物 / 现场观测）× 三种载体（文书 / 仪器 / 所思所想）。最后那条规则要强调：一个真相至少两种载体互相印证，否则不成立。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文书线索的四条原则。第一条的正反例要念出来对比。第四条「允许破损」是个便宜的难度旋钮，值得单独提。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仪器线索。重点是最后那条反例——如果仪器直接告诉你「前方 40 格有巨型章鱼」，那就不是线索是外挂。仪器给数据，玩家下判断。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这是今天要落地的写作规范。公式是：注意到的东西 + 一个具体细节 + 一个没回答的问题。三条语气规范要逐条过。触发时机四种，每种写一句，不要复用。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十二条示例，快速过，每条读一半就够。让大家感受语气的统一性。可以现场问：哪几条听起来最像自己想出来的？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K-17 的连线图。重点不是图本身，是右侧三条约束，以及最后那句：系统只负责在正确的时刻把线变成红色。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强度分级：L1 ≤ 20% 只做卡死保护，L2 约 60% 是主力，L3 约 20% 负责惊喜。右边四条「不要做」建议直接写进规范文档。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过渡页。第四部分：未来。全部沿用同一套知识锁。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三个阶段对应三种玩家状态。要强调：A 让玩家能待下去，B 让玩家想再看一眼，C 让玩家舍不得走。顺序不能换。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八个隐藏参数。重点讲四条设计规则，尤其「失败也有产出」——这一条决定了玩家愿不愿意继续尝试。最后那段是说服力所在：一套机制复用到几十条鱼。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行为即 UI。左边表格可以挑三行讲。右边两张卡是设计约束：诊断而不是开关；反馈要给足但不给答案。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四条鱼，四种翻车。寒冰行者那条最容易引起共鸣——玩家会把滞育当成死亡。这一页是用来证明「每条鱼都不一样」不是口号。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种地不是独立系统，是养殖的输入端。底部循环链要念一遍：鱼 → 排泄物/矿渣 → 富营养泥 → 海藻珊瑚 → 饲料材料 → 回到鱼。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栖息站模块。核心观点：每一块模块都在降低某一层限制的成本，而不是单纯变强。六个模块分别对应哪把锁，卡片上已经标了。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产出循环。要讲清「主产品是理解，材料是副产品」。这是整个长期留存的引擎。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里程碑。强调排序依据：由「系统能不能跑通」决定，不由「内容够不够多」决定。时间是可讨论的。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逐条过，每条给一个建议答案，然后当场收集意见。第 3 条（优先级）和第 5 条（数据驱动边界）最需要今天有结论。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收尾一句话，然后进入讨论。不要再补内容。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AQUANAUT  ·  项目会议材料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海洋博物学模组</a:t>
            </a:r>
          </a:p>
          <a:p>
            <a:pPr algn="l">
              <a:lnSpc>
                <a:spcPct val="118000"/>
              </a:lnSpc>
            </a:pPr>
            <a:r>
              <a:rPr sz="42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进度、路线与线索设计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844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CFE3EC"/>
                </a:solidFill>
                <a:latin typeface="Microsoft YaHei"/>
                <a:ea typeface="微软雅黑"/>
                <a:cs typeface="微软雅黑"/>
              </a:rPr>
              <a:t>2026 年 10 月 3 日　·　项目路线评审会　·　时长 60 分钟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133087"/>
            <a:ext cx="4983480" cy="0"/>
          </a:xfrm>
          <a:prstGeom prst="line">
            <a:avLst/>
          </a:prstGeom>
          <a:ln w="12700">
            <a:solidFill>
              <a:srgbClr val="478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68680" y="4370832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0B2733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>
                <a:solidFill>
                  <a:srgbClr val="D8ECF4"/>
                </a:solidFill>
                <a:latin typeface="Microsoft YaHei"/>
                <a:ea typeface="微软雅黑"/>
                <a:cs typeface="微软雅黑"/>
              </a:rPr>
              <a:t>当前进度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6312" y="4370832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0B2733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444398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>
                <a:solidFill>
                  <a:srgbClr val="D8ECF4"/>
                </a:solidFill>
                <a:latin typeface="Microsoft YaHei"/>
                <a:ea typeface="微软雅黑"/>
                <a:cs typeface="微软雅黑"/>
              </a:rPr>
              <a:t>总设计路线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3944" y="4370832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0B2733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3944" y="444398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>
                <a:solidFill>
                  <a:srgbClr val="D8ECF4"/>
                </a:solidFill>
                <a:latin typeface="Microsoft YaHei"/>
                <a:ea typeface="微软雅黑"/>
                <a:cs typeface="微软雅黑"/>
              </a:rPr>
              <a:t>线索设计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51576" y="4370832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0B2733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51576" y="444398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50" b="0">
                <a:solidFill>
                  <a:srgbClr val="D8ECF4"/>
                </a:solidFill>
                <a:latin typeface="Microsoft YaHei"/>
                <a:ea typeface="微软雅黑"/>
                <a:cs typeface="微软雅黑"/>
              </a:rPr>
              <a:t>未来策划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05332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9DBECA"/>
                </a:solidFill>
                <a:latin typeface="Microsoft YaHei"/>
                <a:ea typeface="微软雅黑"/>
                <a:cs typeface="微软雅黑"/>
              </a:rPr>
              <a:t>受限于物理　·　受限于技术　·　最终受限于认知——本作把第三把锁交给玩家自己打开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先看结论：四句话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5294376" cy="1938528"/>
          </a:xfrm>
          <a:prstGeom prst="roundRect">
            <a:avLst>
              <a:gd name="adj" fmla="val 424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5256" y="1741932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73352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进度｜骨架已成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050542"/>
            <a:ext cx="4855464" cy="1296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六个系统已经跑通：潜水与生理限制、垂直分层海洋、观测仪器、潜航员笔记、调查板、装置与养殖。世界已经可以在里面潜水，不再只是素材库。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1481328"/>
            <a:ext cx="5294376" cy="1938528"/>
          </a:xfrm>
          <a:prstGeom prst="roundRect">
            <a:avLst>
              <a:gd name="adj" fmla="val 424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741932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1673352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路线｜不是加内容，是加认知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0542"/>
            <a:ext cx="4855464" cy="1296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用「知识锁」替代科技树：物理锁、技术锁、认知锁同时存在、依次松开。玩家变强的方式是理解世界，而不是攒资源。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02736"/>
            <a:ext cx="5294376" cy="1938528"/>
          </a:xfrm>
          <a:prstGeom prst="roundRect">
            <a:avLst>
              <a:gd name="adj" fmla="val 424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5256" y="3863339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9475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线索｜两种来源，三种载体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171949"/>
            <a:ext cx="4855464" cy="1296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遗留物（旧日志、旧胶卷）与现场观测（探测器、感官）；载体是文书、仪器、所思所想。真相至少要被两种载体互相印证。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3602736"/>
            <a:ext cx="5294376" cy="1938528"/>
          </a:xfrm>
          <a:prstGeom prst="roundRect">
            <a:avLst>
              <a:gd name="adj" fmla="val 424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3863339"/>
            <a:ext cx="50292" cy="173736"/>
          </a:xfrm>
          <a:prstGeom prst="roundRect">
            <a:avLst>
              <a:gd name="adj" fmla="val 36363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379475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未来｜从看鱼到养鱼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71949"/>
            <a:ext cx="4855464" cy="1296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养成、种地、基地建设全部沿用知识锁。每条鱼有隐藏参数，饲养方式靠行为线索摸索；失败本身也产出知识。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今天要过四件事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17904"/>
            <a:ext cx="7818120" cy="841248"/>
          </a:xfrm>
          <a:prstGeom prst="roundRect">
            <a:avLst>
              <a:gd name="adj" fmla="val 9782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373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6642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当前进度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7510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已经落地的东西、内容资产盘点，以及支撑后续的工程基线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79222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00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约 12 分钟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87168"/>
            <a:ext cx="7818120" cy="841248"/>
          </a:xfrm>
          <a:prstGeom prst="roundRect">
            <a:avLst>
              <a:gd name="adj" fmla="val 9782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70662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63347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总设计路线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944368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知识锁 · 非传统模组 · 海洋探索 · 博物学 · 科研 · 零散化主线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761488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00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约 18 分钟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56432"/>
            <a:ext cx="7818120" cy="841248"/>
          </a:xfrm>
          <a:prstGeom prst="roundRect">
            <a:avLst>
              <a:gd name="adj" fmla="val 9782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758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60273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线索的设计建议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91363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文书线索、仪器线索、「所思所想」文本规范与线索链样例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730752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00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约 18 分钟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25696"/>
            <a:ext cx="7818120" cy="841248"/>
          </a:xfrm>
          <a:prstGeom prst="roundRect">
            <a:avLst>
              <a:gd name="adj" fmla="val 9782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6451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5720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未来的策划路线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88289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养成与基地建设：养鱼、种地、科研设施与里程碑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700016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00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约 12 分钟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96528" y="1517904"/>
            <a:ext cx="2706624" cy="3712463"/>
          </a:xfrm>
          <a:prstGeom prst="roundRect">
            <a:avLst>
              <a:gd name="adj" fmla="val 3040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15984" y="177850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70992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本次会议想对齐三件事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2068068"/>
            <a:ext cx="2267712" cy="3089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① 设计路线是否成立——三层锁能不能当作长期宪法；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② 线索规范是否可执行——「所思所想」的公式与语气规范能不能直接拿去写；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③ 优先级——线索系统与饲养原型谁先做。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084831"/>
            <a:ext cx="91440" cy="1874519"/>
          </a:xfrm>
          <a:prstGeom prst="rect">
            <a:avLst/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62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6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当前进度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931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BFD8E2"/>
                </a:solidFill>
                <a:latin typeface="Microsoft YaHei"/>
                <a:ea typeface="微软雅黑"/>
                <a:cs typeface="微软雅黑"/>
              </a:rPr>
              <a:t>从一份空工程，到一个可以在里面潜水的世界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8C6D2"/>
                </a:solidFill>
                <a:latin typeface="Microsoft YaHei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当前进度：数字面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统计口径为仓库 HEAD（2026-10-02 最后一次提交），不含生成产物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36192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10512"/>
            <a:ext cx="1650492" cy="1481328"/>
          </a:xfrm>
          <a:prstGeom prst="roundRect">
            <a:avLst>
              <a:gd name="adj" fmla="val 555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56816"/>
            <a:ext cx="12847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164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6805"/>
            <a:ext cx="12847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物品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32837"/>
            <a:ext cx="12847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含 5 阶装备与 9 种鱼叉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9172" y="1810512"/>
            <a:ext cx="1650492" cy="1481328"/>
          </a:xfrm>
          <a:prstGeom prst="roundRect">
            <a:avLst>
              <a:gd name="adj" fmla="val 555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2052" y="1956816"/>
            <a:ext cx="12847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2052" y="2376805"/>
            <a:ext cx="12847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方块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2052" y="2632837"/>
            <a:ext cx="12847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建材、珊瑚、盐系、火山系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1810512"/>
            <a:ext cx="1650492" cy="1481328"/>
          </a:xfrm>
          <a:prstGeom prst="roundRect">
            <a:avLst>
              <a:gd name="adj" fmla="val 555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1956816"/>
            <a:ext cx="12847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2376805"/>
            <a:ext cx="12847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实体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2632837"/>
            <a:ext cx="12847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温和 / 危险 / 巨兽三档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5916" y="1810512"/>
            <a:ext cx="1650492" cy="1481328"/>
          </a:xfrm>
          <a:prstGeom prst="roundRect">
            <a:avLst>
              <a:gd name="adj" fmla="val 555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1956816"/>
            <a:ext cx="12847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376805"/>
            <a:ext cx="12847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群系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632837"/>
            <a:ext cx="12847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四条深度带上的立体海洋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1810512"/>
            <a:ext cx="1650492" cy="1481328"/>
          </a:xfrm>
          <a:prstGeom prst="roundRect">
            <a:avLst>
              <a:gd name="adj" fmla="val 555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7" y="1956816"/>
            <a:ext cx="12847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7" y="2376805"/>
            <a:ext cx="12847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地物生成器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7" y="2632837"/>
            <a:ext cx="12847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火山、晶巢、盐镜、凝胶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52659" y="1810512"/>
            <a:ext cx="1650492" cy="1481328"/>
          </a:xfrm>
          <a:prstGeom prst="roundRect">
            <a:avLst>
              <a:gd name="adj" fmla="val 555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35539" y="1956816"/>
            <a:ext cx="12847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5539" y="2376805"/>
            <a:ext cx="12847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测试类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5539" y="2632837"/>
            <a:ext cx="12847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几何/噪声/布局/图算法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4747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代码分布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803904"/>
            <a:ext cx="7182369" cy="310896"/>
          </a:xfrm>
          <a:prstGeom prst="roundRect">
            <a:avLst>
              <a:gd name="adj" fmla="val 11764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854196"/>
            <a:ext cx="718236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950" b="0">
                <a:solidFill>
                  <a:srgbClr val="06121A"/>
                </a:solidFill>
                <a:latin typeface="Microsoft YaHei"/>
                <a:ea typeface="微软雅黑"/>
                <a:cs typeface="微软雅黑"/>
              </a:rPr>
              <a:t>40.9k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8169" y="3803904"/>
            <a:ext cx="2797463" cy="310896"/>
          </a:xfrm>
          <a:prstGeom prst="roundRect">
            <a:avLst>
              <a:gd name="adj" fmla="val 11764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8169" y="3854196"/>
            <a:ext cx="2797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950" b="0">
                <a:solidFill>
                  <a:srgbClr val="06121A"/>
                </a:solidFill>
                <a:latin typeface="Microsoft YaHei"/>
                <a:ea typeface="微软雅黑"/>
                <a:cs typeface="微软雅黑"/>
              </a:rPr>
              <a:t>15.9k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65633" y="3803904"/>
            <a:ext cx="455360" cy="310896"/>
          </a:xfrm>
          <a:prstGeom prst="roundRect">
            <a:avLst>
              <a:gd name="adj" fmla="val 11764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120993" y="3803904"/>
            <a:ext cx="202226" cy="310896"/>
          </a:xfrm>
          <a:prstGeom prst="roundRect">
            <a:avLst>
              <a:gd name="adj" fmla="val 18086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323219" y="3803904"/>
            <a:ext cx="179932" cy="310896"/>
          </a:xfrm>
          <a:prstGeom prst="roundRect">
            <a:avLst>
              <a:gd name="adj" fmla="val 20327"/>
            </a:avLst>
          </a:prstGeom>
          <a:solidFill>
            <a:srgbClr val="B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7687" y="4314139"/>
            <a:ext cx="113385" cy="113385"/>
          </a:xfrm>
          <a:prstGeom prst="ellipse">
            <a:avLst/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261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common  66%</a:t>
            </a:r>
          </a:p>
        </p:txBody>
      </p:sp>
      <p:sp>
        <p:nvSpPr>
          <p:cNvPr id="43" name="Oval 42"/>
          <p:cNvSpPr/>
          <p:nvPr/>
        </p:nvSpPr>
        <p:spPr>
          <a:xfrm>
            <a:off x="2855671" y="4314139"/>
            <a:ext cx="113385" cy="113385"/>
          </a:xfrm>
          <a:prstGeom prst="ellipse">
            <a:avLst/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26664" y="4261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client  26%</a:t>
            </a:r>
          </a:p>
        </p:txBody>
      </p:sp>
      <p:sp>
        <p:nvSpPr>
          <p:cNvPr id="45" name="Oval 44"/>
          <p:cNvSpPr/>
          <p:nvPr/>
        </p:nvSpPr>
        <p:spPr>
          <a:xfrm>
            <a:off x="5013655" y="4314139"/>
            <a:ext cx="113385" cy="113385"/>
          </a:xfrm>
          <a:prstGeom prst="ellipse">
            <a:avLst/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84648" y="4261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core  4%</a:t>
            </a:r>
          </a:p>
        </p:txBody>
      </p:sp>
      <p:sp>
        <p:nvSpPr>
          <p:cNvPr id="47" name="Oval 46"/>
          <p:cNvSpPr/>
          <p:nvPr/>
        </p:nvSpPr>
        <p:spPr>
          <a:xfrm>
            <a:off x="7171639" y="4314139"/>
            <a:ext cx="113385" cy="113385"/>
          </a:xfrm>
          <a:prstGeom prst="ellipse">
            <a:avLst/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42631" y="4261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mixin  2%</a:t>
            </a:r>
          </a:p>
        </p:txBody>
      </p:sp>
      <p:sp>
        <p:nvSpPr>
          <p:cNvPr id="49" name="Oval 48"/>
          <p:cNvSpPr/>
          <p:nvPr/>
        </p:nvSpPr>
        <p:spPr>
          <a:xfrm>
            <a:off x="9329623" y="4314139"/>
            <a:ext cx="113385" cy="113385"/>
          </a:xfrm>
          <a:prstGeom prst="ellipse">
            <a:avLst/>
          </a:prstGeom>
          <a:solidFill>
            <a:srgbClr val="B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0615" y="4261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network  2%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4736592"/>
            <a:ext cx="10817352" cy="1298448"/>
          </a:xfrm>
          <a:prstGeom prst="roundRect">
            <a:avLst>
              <a:gd name="adj" fmla="val 6338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05256" y="499719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" y="4928616"/>
            <a:ext cx="10232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一句话读法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277230"/>
            <a:ext cx="10378440" cy="6846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source 文件 613 个、Java 约 5.16 万行，其中 </a:t>
            </a:r>
            <a:r>
              <a:rPr sz="11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common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占近八成——绝大多数投入在</a:t>
            </a: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玩法逻辑与世界生成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，而不是渲染和网络层。这意味着后续加内容（鱼、植物、设施）的边际成本很低。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内容资产盘点：现在手里有什么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99616"/>
            <a:ext cx="5294376" cy="2103120"/>
          </a:xfrm>
          <a:prstGeom prst="roundRect">
            <a:avLst>
              <a:gd name="adj" fmla="val 3913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1737360"/>
            <a:ext cx="50292" cy="173736"/>
          </a:xfrm>
          <a:prstGeom prst="rect">
            <a:avLst/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00784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生物 · 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077516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066544"/>
            <a:ext cx="4626864" cy="213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温和</a:t>
            </a: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：沙丁鱼、圈圈鱼、弹簧鱼、绅士鱼、黄金鲤 / 白银鲤 / 白骨鲤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0670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395728"/>
            <a:ext cx="4626864" cy="213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危险</a:t>
            </a: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：𩽾𩾌鱼、水雷、卷齿鲨、吸血鳗、噬矿鱼、辐射海葵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735884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2724912"/>
            <a:ext cx="4626864" cy="213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巨兽</a:t>
            </a: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：巨型章鱼触手、巨型深渊蠕虫、三头鲨、苍白深渊水螅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1499616"/>
            <a:ext cx="5294376" cy="2103120"/>
          </a:xfrm>
          <a:prstGeom prst="roundRect">
            <a:avLst>
              <a:gd name="adj" fmla="val 3913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28231" y="1737360"/>
            <a:ext cx="50292" cy="173736"/>
          </a:xfrm>
          <a:prstGeom prst="rect">
            <a:avLst/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1700784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装备与仪器 · 30+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77516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066544"/>
            <a:ext cx="4626864" cy="380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三件套</a:t>
            </a: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：潜水面罩 / 氧气罐 / 脚蹼，各 5 阶（木 → 珊瑚 → 贝壳 → 硬壳 → 海洋合金）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22118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2511145"/>
            <a:ext cx="4626864" cy="213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鱼叉</a:t>
            </a: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9 种 + 4 条特殊词条（穿透 / 召回 / 影叉 / 悬浮）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51302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2840329"/>
            <a:ext cx="4626864" cy="380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仪器</a:t>
            </a: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：手持探照灯、便携声呐、生物探测器、贝壳相机、潜艇罗盘、气体流量计、潜艇无人机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749039"/>
            <a:ext cx="5294376" cy="2103120"/>
          </a:xfrm>
          <a:prstGeom prst="roundRect">
            <a:avLst>
              <a:gd name="adj" fmla="val 3913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" y="3986783"/>
            <a:ext cx="50292" cy="173736"/>
          </a:xfrm>
          <a:prstGeom prst="rect">
            <a:avLst/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1" y="3950207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方块与材料 · 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32694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4315968"/>
            <a:ext cx="4626864" cy="213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生态</a:t>
            </a: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：珊瑚系列 20+、凝胶系列 8、海藻 3、晶巢岩与 7 种水晶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656124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" y="4645152"/>
            <a:ext cx="4626864" cy="213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地质</a:t>
            </a: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：火山岩系、盐系（岩盐壳 / 管 / 莲座 / 垂帘）、页岩、石灰岩、硅华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985308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4974336"/>
            <a:ext cx="4626864" cy="380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建材与装置</a:t>
            </a: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：贝壳 / 硬壳砖、有机玻璃、气体管道、渔网、解剖台、冲洗盆、调查白板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7064" y="3749039"/>
            <a:ext cx="5294376" cy="2103120"/>
          </a:xfrm>
          <a:prstGeom prst="roundRect">
            <a:avLst>
              <a:gd name="adj" fmla="val 3913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28231" y="3986783"/>
            <a:ext cx="50292" cy="173736"/>
          </a:xfrm>
          <a:prstGeom prst="rect">
            <a:avLst/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74536" y="3950207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世界 · 6 群系 × 4 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32694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552" y="4315968"/>
            <a:ext cx="4626864" cy="213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上层</a:t>
            </a: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：珊瑚森林、凝胶丛林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656124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2552" y="4645152"/>
            <a:ext cx="4626864" cy="213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中层</a:t>
            </a: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：盐镜峡、硫磺火山区、水晶巢、中层海洋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985308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2552" y="4974336"/>
            <a:ext cx="4626864" cy="213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下层</a:t>
            </a: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：深海（占位群系，留给未来的深渊内容）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PILLAR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支柱一 · 潜水装备与生理限制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让玩家第一次产生「我下不去」的念头——这是第一把锁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36192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装备阶梯（能力用材料换，不用数值堆）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48255"/>
            <a:ext cx="5989320" cy="329184"/>
          </a:xfrm>
          <a:prstGeom prst="roundRect">
            <a:avLst>
              <a:gd name="adj" fmla="val 13888"/>
            </a:avLst>
          </a:prstGeom>
          <a:solidFill>
            <a:srgbClr val="14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116836"/>
            <a:ext cx="7494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部位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5919" y="2116836"/>
            <a:ext cx="10054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入门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5688" y="2116836"/>
            <a:ext cx="15173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进阶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7365" y="2116836"/>
            <a:ext cx="161973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它改变什么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432303"/>
            <a:ext cx="5989320" cy="576072"/>
          </a:xfrm>
          <a:prstGeom prst="roundRect">
            <a:avLst>
              <a:gd name="adj" fmla="val 6349"/>
            </a:avLst>
          </a:prstGeom>
          <a:solidFill>
            <a:srgbClr val="0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2523744"/>
            <a:ext cx="731207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面罩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5919" y="2523744"/>
            <a:ext cx="98716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木 / 珊瑚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5688" y="2523744"/>
            <a:ext cx="149906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贝壳 / 硬壳 / 海洋合金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7365" y="2523744"/>
            <a:ext cx="160145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再生加成 + 氮醉抗性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3099815"/>
            <a:ext cx="731207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氧气罐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5919" y="3099815"/>
            <a:ext cx="98716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木 / 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5688" y="3099815"/>
            <a:ext cx="149906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贝壳 / 硬壳 / 海洋合金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7365" y="3099815"/>
            <a:ext cx="160145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额外气泡条与恢复速度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84447"/>
            <a:ext cx="5989320" cy="576072"/>
          </a:xfrm>
          <a:prstGeom prst="roundRect">
            <a:avLst>
              <a:gd name="adj" fmla="val 6349"/>
            </a:avLst>
          </a:prstGeom>
          <a:solidFill>
            <a:srgbClr val="0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3675887"/>
            <a:ext cx="731207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脚蹼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5919" y="3675887"/>
            <a:ext cx="98716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木 / 鲨鱼皮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5688" y="3675887"/>
            <a:ext cx="149906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珊瑚 / 贝壳 / 硬壳 / 海洋合金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7365" y="3675887"/>
            <a:ext cx="160145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水下泳速倍率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" y="4251959"/>
            <a:ext cx="731207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鱼叉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55919" y="4251959"/>
            <a:ext cx="98716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木 → 下界合金 7 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5688" y="4251959"/>
            <a:ext cx="149906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珊瑚 / 贝壳 / 硬壳 / 海洋合金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7365" y="4251959"/>
            <a:ext cx="160145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投掷伤害与特殊词条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010912"/>
            <a:ext cx="5989320" cy="1115568"/>
          </a:xfrm>
          <a:prstGeom prst="roundRect">
            <a:avLst>
              <a:gd name="adj" fmla="val 7377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5256" y="527151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5202936"/>
            <a:ext cx="5404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为什么这样分阶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32501"/>
            <a:ext cx="5550408" cy="5208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每一阶只解决一个具体问题：</a:t>
            </a:r>
            <a:r>
              <a:rPr sz="12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下得去（气）</a:t>
            </a: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→ </a:t>
            </a:r>
            <a:r>
              <a:rPr sz="12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待得住（压力）</a:t>
            </a: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→ </a:t>
            </a:r>
            <a:r>
              <a:rPr sz="12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游得动（速度）</a:t>
            </a: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→ </a:t>
            </a:r>
            <a:r>
              <a:rPr sz="12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打得过（自卫）</a:t>
            </a: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。玩家永远知道自己缺哪一件，而不是「数值不够」。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31152" y="1755648"/>
            <a:ext cx="4572000" cy="859536"/>
          </a:xfrm>
          <a:prstGeom prst="roundRect">
            <a:avLst>
              <a:gd name="adj" fmla="val 9574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1152" y="1755648"/>
            <a:ext cx="45720" cy="859536"/>
          </a:xfrm>
          <a:prstGeom prst="roundRect">
            <a:avLst>
              <a:gd name="adj" fmla="val 40000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50608" y="1883664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空气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2157984"/>
            <a:ext cx="4160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额外气泡条按装备等级恢复；耗尽后开始溺水。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31152" y="2724912"/>
            <a:ext cx="4572000" cy="859536"/>
          </a:xfrm>
          <a:prstGeom prst="roundRect">
            <a:avLst>
              <a:gd name="adj" fmla="val 9574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31152" y="2724912"/>
            <a:ext cx="45720" cy="859536"/>
          </a:xfrm>
          <a:prstGeom prst="roundRect">
            <a:avLst>
              <a:gd name="adj" fmla="val 40000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50608" y="285292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压力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0608" y="3127248"/>
            <a:ext cx="4160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归一化静水压 0–1；约 0.24 起触发「氮醉」，每 0.05 加重一级，面罩提供抗性。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31152" y="3694176"/>
            <a:ext cx="4572000" cy="859536"/>
          </a:xfrm>
          <a:prstGeom prst="roundRect">
            <a:avLst>
              <a:gd name="adj" fmla="val 9574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931152" y="3694176"/>
            <a:ext cx="45720" cy="859536"/>
          </a:xfrm>
          <a:prstGeom prst="roundRect">
            <a:avLst>
              <a:gd name="adj" fmla="val 40000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50608" y="3822191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温度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0608" y="4096512"/>
            <a:ext cx="4160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低温水流决定部分物种与素材的分布（如寒冰行者的活动区）。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31152" y="4663440"/>
            <a:ext cx="4572000" cy="859536"/>
          </a:xfrm>
          <a:prstGeom prst="roundRect">
            <a:avLst>
              <a:gd name="adj" fmla="val 9574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931152" y="4663440"/>
            <a:ext cx="45720" cy="859536"/>
          </a:xfrm>
          <a:prstGeom prst="roundRect">
            <a:avLst>
              <a:gd name="adj" fmla="val 40000"/>
            </a:avLst>
          </a:prstGeom>
          <a:solidFill>
            <a:srgbClr val="B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50608" y="4791455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光照与能见度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50608" y="5065776"/>
            <a:ext cx="4160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深度接管雾效与对比度；方块光无法跟随玩家，所以光照靠「光束」而不是「点灯」。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31152" y="5669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四条限制互相叠加：玩家不会「被数值挡住」，而是被</a:t>
            </a:r>
            <a:r>
              <a:rPr sz="1050" b="1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环境</a:t>
            </a:r>
            <a:r>
              <a:rPr sz="10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挡住。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PILLAR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支柱二 · 立体海洋：把原版深海改写成四层栈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不新增维度。改写深海柱体，让「深度」第一次成为真正的内容轴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36192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10512"/>
            <a:ext cx="6537960" cy="713232"/>
          </a:xfrm>
          <a:prstGeom prst="roundRect">
            <a:avLst>
              <a:gd name="adj" fmla="val 7692"/>
            </a:avLst>
          </a:prstGeom>
          <a:solidFill>
            <a:srgbClr val="12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10512"/>
            <a:ext cx="50292" cy="713232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2938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表层海洋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9659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Y 40 → 320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29384"/>
            <a:ext cx="25146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珊瑚森林 / 凝胶丛林；玩家熟悉的浅海，第一印象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33472"/>
            <a:ext cx="6537960" cy="713232"/>
          </a:xfrm>
          <a:prstGeom prst="roundRect">
            <a:avLst>
              <a:gd name="adj" fmla="val 7692"/>
            </a:avLst>
          </a:prstGeom>
          <a:solidFill>
            <a:srgbClr val="17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633472"/>
            <a:ext cx="50292" cy="713232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75234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礁顶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7889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Y 35 → 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52344"/>
            <a:ext cx="25146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一层生物礁天花板，把上下两片海物理隔开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56432"/>
            <a:ext cx="6537960" cy="713232"/>
          </a:xfrm>
          <a:prstGeom prst="roundRect">
            <a:avLst>
              <a:gd name="adj" fmla="val 7692"/>
            </a:avLst>
          </a:prstGeom>
          <a:solidFill>
            <a:srgbClr val="1C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456432"/>
            <a:ext cx="50292" cy="713232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5753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中层海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6118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Y -42 → 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575304"/>
            <a:ext cx="25146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盐镜峡 / 硫磺火山区 / 水晶巢 / 中层海洋：主舞台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79392"/>
            <a:ext cx="6537960" cy="713232"/>
          </a:xfrm>
          <a:prstGeom prst="roundRect">
            <a:avLst>
              <a:gd name="adj" fmla="val 7692"/>
            </a:avLst>
          </a:prstGeom>
          <a:solidFill>
            <a:srgbClr val="0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279392"/>
            <a:ext cx="50292" cy="713232"/>
          </a:xfrm>
          <a:prstGeom prst="roundRect">
            <a:avLst>
              <a:gd name="adj" fmla="val 36363"/>
            </a:avLst>
          </a:prstGeom>
          <a:solidFill>
            <a:srgbClr val="B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3982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深海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43484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B79BFF"/>
                </a:solidFill>
                <a:latin typeface="Microsoft YaHei"/>
                <a:ea typeface="微软雅黑"/>
                <a:cs typeface="微软雅黑"/>
              </a:rPr>
              <a:t>Y -64 → -38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398264"/>
            <a:ext cx="25146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礁顶之下的静默层；占位群系，留给未来的深渊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85806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3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1847088"/>
            <a:ext cx="3703320" cy="3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确定性列规划器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：每个方块柱独立规划，不跨区块写入——接缝在原理上不可能出现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355494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3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9831" y="2344521"/>
            <a:ext cx="3703320" cy="3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数据驱动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：default_deep_stack.json 描述分层与群系配比，数据包可以自己加层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852928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3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9831" y="2841955"/>
            <a:ext cx="3703320" cy="3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软融合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：每条群系占独立噪声通道，形成大片连贯「辖区」，边界处渐变过渡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350361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3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9831" y="3339388"/>
            <a:ext cx="3703320" cy="3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结构自下而上生长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：约 1/3 的火山破顶，把中层海和礁顶物理打通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120640"/>
            <a:ext cx="6537960" cy="1051560"/>
          </a:xfrm>
          <a:prstGeom prst="roundRect">
            <a:avLst>
              <a:gd name="adj" fmla="val 7826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5256" y="5381244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312664"/>
            <a:ext cx="5952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测试保证的不是数值，是连续性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642229"/>
            <a:ext cx="6099048" cy="456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73 个测试类里，绝大多数在验证</a:t>
            </a:r>
            <a:r>
              <a:rPr sz="11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几何、噪声与混合是否连续</a:t>
            </a: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：断层、接缝、悬崖守卫、区域权重场。世界生成一旦出问题就是灾难性的，所以它必须可单测。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PILLAR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支柱三 · 观测与仪器：让感官可以延伸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仪器不是武器，是把「看不清」变成「看得见」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36192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65376"/>
            <a:ext cx="3465576" cy="1810512"/>
          </a:xfrm>
          <a:prstGeom prst="roundRect">
            <a:avLst>
              <a:gd name="adj" fmla="val 454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5256" y="2125980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手持探照灯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5540"/>
            <a:ext cx="3026664" cy="1187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真实光束几何（纯函数可测）+ 加性渲染，空气与水下射程不同；不点亮方块光。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865376"/>
            <a:ext cx="3465576" cy="1810512"/>
          </a:xfrm>
          <a:prstGeom prst="roundRect">
            <a:avLst>
              <a:gd name="adj" fmla="val 454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1144" y="2125980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574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便携声呐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415540"/>
            <a:ext cx="3026664" cy="1187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发射脉冲并分类回波：矿物、空腔、深渊三种音色——先把「那里有东西」变成可听。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1865376"/>
            <a:ext cx="3465576" cy="1810512"/>
          </a:xfrm>
          <a:prstGeom prst="roundRect">
            <a:avLst>
              <a:gd name="adj" fmla="val 454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57031" y="2125980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20574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生物探测器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415540"/>
            <a:ext cx="3026664" cy="1187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48 格监听半径、3.5 格全息球、4.5°/tick 扫掠；潜水员可以游进这张图里读它。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77056"/>
            <a:ext cx="3465576" cy="1810512"/>
          </a:xfrm>
          <a:prstGeom prst="roundRect">
            <a:avLst>
              <a:gd name="adj" fmla="val 454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" y="4137660"/>
            <a:ext cx="50292" cy="173736"/>
          </a:xfrm>
          <a:prstGeom prst="roundRect">
            <a:avLst>
              <a:gd name="adj" fmla="val 36363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69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贝壳相机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427220"/>
            <a:ext cx="3026664" cy="1187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取景 → 快门 → 感光胶片 → 冲洗盆显影 → 带坐标与摄影者的照片，物证可以流通。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3877056"/>
            <a:ext cx="3465576" cy="1810512"/>
          </a:xfrm>
          <a:prstGeom prst="roundRect">
            <a:avLst>
              <a:gd name="adj" fmla="val 454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81144" y="4137660"/>
            <a:ext cx="50292" cy="173736"/>
          </a:xfrm>
          <a:prstGeom prst="roundRect">
            <a:avLst>
              <a:gd name="adj" fmla="val 36363"/>
            </a:avLst>
          </a:prstGeom>
          <a:solidFill>
            <a:srgbClr val="B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8" y="4069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潜艇罗盘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427220"/>
            <a:ext cx="3026664" cy="1187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标记与导航：长按选择标记，把「我见过那里」变成可重复抵达的坐标。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7575" y="3877056"/>
            <a:ext cx="3465576" cy="1810512"/>
          </a:xfrm>
          <a:prstGeom prst="roundRect">
            <a:avLst>
              <a:gd name="adj" fmla="val 454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57031" y="4137660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4069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潜艇无人机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4427220"/>
            <a:ext cx="3026664" cy="1187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可远程驾驶的观察平台，带头灯与仪表 HUD（深度、航速、朝向、供给）。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52159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设计原则：仪器给出的是</a:t>
            </a: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原始数据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，不是结论。结论永远留给玩家——这是知识锁能不能成立的关键分界。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PILLAR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支柱四 · 潜航员笔记：把「见过」变成「知道」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35 条物种条目，全部数据驱动，按研究阶段逐页解锁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36192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48255"/>
            <a:ext cx="2121408" cy="694944"/>
          </a:xfrm>
          <a:prstGeom prst="roundRect">
            <a:avLst>
              <a:gd name="adj" fmla="val 10526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39696"/>
            <a:ext cx="21214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未见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95728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9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占位可见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98648" y="2395728"/>
            <a:ext cx="384048" cy="0"/>
          </a:xfrm>
          <a:prstGeom prst="line">
            <a:avLst/>
          </a:prstGeom>
          <a:ln w="15240">
            <a:solidFill>
              <a:srgbClr val="5A8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98648" y="2286000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4136" y="2048255"/>
            <a:ext cx="2121408" cy="694944"/>
          </a:xfrm>
          <a:prstGeom prst="roundRect">
            <a:avLst>
              <a:gd name="adj" fmla="val 10526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139696"/>
            <a:ext cx="21214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已遭遇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395728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9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看到 / 扫描到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86983" y="2395728"/>
            <a:ext cx="384048" cy="0"/>
          </a:xfrm>
          <a:prstGeom prst="line">
            <a:avLst/>
          </a:prstGeom>
          <a:ln w="15240">
            <a:solidFill>
              <a:srgbClr val="5A8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86983" y="2286000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62472" y="2048255"/>
            <a:ext cx="2121408" cy="694944"/>
          </a:xfrm>
          <a:prstGeom prst="roundRect">
            <a:avLst>
              <a:gd name="adj" fmla="val 10526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2472" y="2139696"/>
            <a:ext cx="21214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已捕获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2395728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9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捞到 / 养起来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75319" y="2395728"/>
            <a:ext cx="384048" cy="0"/>
          </a:xfrm>
          <a:prstGeom prst="line">
            <a:avLst/>
          </a:prstGeom>
          <a:ln w="15240">
            <a:solidFill>
              <a:srgbClr val="5A8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75319" y="2286000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0808" y="2048255"/>
            <a:ext cx="2121408" cy="694944"/>
          </a:xfrm>
          <a:prstGeom prst="roundRect">
            <a:avLst>
              <a:gd name="adj" fmla="val 10526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0808" y="2139696"/>
            <a:ext cx="21214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已击败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8" y="2395728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9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或解剖取样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95534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3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2944368"/>
            <a:ext cx="5733288" cy="221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属性跟着阶段走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：最大生命 / 排泄物（遭遇）、食性 / 体型（捕获）、变种数量（击败）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284524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3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3273551"/>
            <a:ext cx="5733288" cy="221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未解锁不是消失，是占位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：「需要更多研究才能解锁这些记录」——玩家知道这里还有一页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613708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3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3602735"/>
            <a:ext cx="5733288" cy="221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遭遇是自动的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：32 格内且视线可达即记录，不需要玩家主动交互，降低门槛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942892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3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3931920"/>
            <a:ext cx="5733288" cy="221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条目支持别名与自定义区块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：段落、图版、3D 形态记录可以任意组合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272076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3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" y="4261104"/>
            <a:ext cx="5733288" cy="221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进度可继承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：登录同步、死亡克隆复制，研究不会因为死一次而归零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31152" y="2048255"/>
            <a:ext cx="4572000" cy="1188720"/>
          </a:xfrm>
          <a:prstGeom prst="roundRect">
            <a:avLst>
              <a:gd name="adj" fmla="val 6923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14032" y="217627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真实条目 · 𩽾𩾌鱼 · 已遭遇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2" y="2395727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「野外记录显示，该样本以发光诱饵吸引目标进入有效范围。」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31152" y="3364991"/>
            <a:ext cx="4572000" cy="1188720"/>
          </a:xfrm>
          <a:prstGeom prst="roundRect">
            <a:avLst>
              <a:gd name="adj" fmla="val 6923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2" y="3493008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真实条目 · 𩽾𩾌鱼 · 已捕获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2" y="3712463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「该物种会长时间保持静止，仅在目标接近到足够距离后才前进。」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31152" y="4681728"/>
            <a:ext cx="4572000" cy="1417320"/>
          </a:xfrm>
          <a:prstGeom prst="roundRect">
            <a:avLst>
              <a:gd name="adj" fmla="val 5806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150608" y="4942332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96912" y="4873752"/>
            <a:ext cx="39867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注意文本的写法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5203317"/>
            <a:ext cx="4133087" cy="822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两条都是</a:t>
            </a:r>
            <a:r>
              <a:rPr sz="113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玩家视角的观察记录</a:t>
            </a: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，不是图鉴说明：写它「做了什么」，不写它「属性是多少」。这正是后面「所思所想」要继承的语气。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PILLAR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支柱五 · 调查板：零散化主线的容器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墙上的证据板：便笺是节点，红线是连线，玩家自己把碎片连起来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36192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39772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828800"/>
            <a:ext cx="4818888" cy="2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9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结构化推理</a:t>
            </a:r>
            <a:r>
              <a:rPr sz="109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：节点 = 时间 / 地点 / 一句疑问；连线 = 一条证据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05532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194560"/>
            <a:ext cx="4818888" cy="2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9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两态连线</a:t>
            </a:r>
            <a:r>
              <a:rPr sz="109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：已证实（红线点亮）与尚未证实（图钉能连上，但没有证据支撑）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71292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60320"/>
            <a:ext cx="4818888" cy="4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9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前置构成有向图</a:t>
            </a:r>
            <a:r>
              <a:rPr sz="109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：注册时即校验悬空连线与环，内容作者不会写出走不通的推理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71977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061004"/>
            <a:ext cx="4818888" cy="2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9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白板挂在墙上</a:t>
            </a:r>
            <a:r>
              <a:rPr sz="109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：不是菜单，是世界里的一块板——推理发生在场景中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37737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426764"/>
            <a:ext cx="4818888" cy="2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9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支持缩放与平移</a:t>
            </a:r>
            <a:r>
              <a:rPr sz="109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：线索会越来越多，板子必须能长大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36592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" y="499719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928616"/>
            <a:ext cx="4489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它解决什么问题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5258181"/>
            <a:ext cx="4636008" cy="776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零散化主线最大的风险是「玩家不知道自己在做什么」。调查板不告诉玩家答案，但它把</a:t>
            </a:r>
            <a:r>
              <a:rPr sz="113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已知</a:t>
            </a: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与</a:t>
            </a:r>
            <a:r>
              <a:rPr sz="113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未知</a:t>
            </a: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同时摆出来——玩家随时能看到自己离真相还差几条证据。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1773936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已内置的样板：K-17 工作站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2084831"/>
            <a:ext cx="5394960" cy="859536"/>
          </a:xfrm>
          <a:prstGeom prst="roundRect">
            <a:avLst>
              <a:gd name="adj" fmla="val 9574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19456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沉没的 K-17 工作站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2468879"/>
            <a:ext cx="5074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「压力舱破裂前，西侧支架已经被整齐切断。」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08192" y="3054096"/>
            <a:ext cx="5394960" cy="859536"/>
          </a:xfrm>
          <a:prstGeom prst="roundRect">
            <a:avLst>
              <a:gd name="adj" fmla="val 9574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316382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碎裂舷窗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438144"/>
            <a:ext cx="5074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「玻璃遭到外部撞击，但附近没有留下任何撞击碎片。」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08192" y="4023360"/>
            <a:ext cx="5394960" cy="859536"/>
          </a:xfrm>
          <a:prstGeom prst="roundRect">
            <a:avLst>
              <a:gd name="adj" fmla="val 9574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4133088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发光孢子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407408"/>
            <a:ext cx="5074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「蓝色孢子附着在残骸上，每十一秒脉动一次。」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08192" y="4992624"/>
            <a:ext cx="5394960" cy="859536"/>
          </a:xfrm>
          <a:prstGeom prst="roundRect">
            <a:avLst>
              <a:gd name="adj" fmla="val 9574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5102352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最后的日志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5376672"/>
            <a:ext cx="5074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「四十三秒失真的声呐，以及一组被说出的坐标。」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6016752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六个节点、六条连线，串起一条从残骸到深渊的完整推理链。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PILLAR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支柱六 · 装置与养殖：已经开始「拥有」了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3465576" cy="1517904"/>
          </a:xfrm>
          <a:prstGeom prst="roundRect">
            <a:avLst>
              <a:gd name="adj" fmla="val 5421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5256" y="1833372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6479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水族馆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113407"/>
            <a:ext cx="3026664" cy="9041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GUI 内饲养，鱼有独立生命值；占位按模型包围盒计算，1×1 起，摆放有真实数学。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572768"/>
            <a:ext cx="3465576" cy="1517904"/>
          </a:xfrm>
          <a:prstGeom prst="roundRect">
            <a:avLst>
              <a:gd name="adj" fmla="val 5421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81144" y="1833372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76479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捞网 4 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113407"/>
            <a:ext cx="3026664" cy="9041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小 / 中 / 大 / 巨型：按鱼体尺寸判定可捞概率——「抓不到」本身就是一条线索。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572768"/>
            <a:ext cx="3465576" cy="1517904"/>
          </a:xfrm>
          <a:prstGeom prst="roundRect">
            <a:avLst>
              <a:gd name="adj" fmla="val 5421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7031" y="1833372"/>
            <a:ext cx="50292" cy="173736"/>
          </a:xfrm>
          <a:prstGeom prst="roundRect">
            <a:avLst>
              <a:gd name="adj" fmla="val 36363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76479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渔网与海藻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113407"/>
            <a:ext cx="3026664" cy="9041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渔网方块；海藻茎 / 海藻果 / 垂落海草，形态随水流与光照变化。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55264"/>
            <a:ext cx="3465576" cy="1517904"/>
          </a:xfrm>
          <a:prstGeom prst="roundRect">
            <a:avLst>
              <a:gd name="adj" fmla="val 5421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256" y="351586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44728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解剖台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795902"/>
            <a:ext cx="3026664" cy="9041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2×2 多方块合并，桌面可以拼成 2×1 长桌；样本进，材料与笔记出。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255264"/>
            <a:ext cx="3465576" cy="1517904"/>
          </a:xfrm>
          <a:prstGeom prst="roundRect">
            <a:avLst>
              <a:gd name="adj" fmla="val 5421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81144" y="351586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B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344728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气体管道 + 流量计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3795902"/>
            <a:ext cx="3026664" cy="9041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支路合流求解器 + 可视化读数，把「通不通」从猜变成数字。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5" y="3255264"/>
            <a:ext cx="3465576" cy="1517904"/>
          </a:xfrm>
          <a:prstGeom prst="roundRect">
            <a:avLst>
              <a:gd name="adj" fmla="val 5421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57031" y="351586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344728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冲洗盆与白板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3795902"/>
            <a:ext cx="3026664" cy="9041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胶片显影；墙上证据板——两件都是「把发现变成资产」的设备。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882896"/>
            <a:ext cx="10817352" cy="859536"/>
          </a:xfrm>
          <a:prstGeom prst="roundRect">
            <a:avLst>
              <a:gd name="adj" fmla="val 9574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5256" y="5143500"/>
            <a:ext cx="50292" cy="173736"/>
          </a:xfrm>
          <a:prstGeom prst="roundRect">
            <a:avLst>
              <a:gd name="adj" fmla="val 36363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074920"/>
            <a:ext cx="10232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已经在跑的「养成」雏形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5404485"/>
            <a:ext cx="10378440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水族馆里的鱼会掉血、会死、会掉战利品（30 秒宽限 + 固定受伤节拍）。</a:t>
            </a:r>
            <a:r>
              <a:rPr sz="11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「养死一条鱼」在技术上已经成立</a:t>
            </a: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，缺的只是「为什么会死」的知识层。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工程基线：内容会过时，能力不会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5294376" cy="1389888"/>
          </a:xfrm>
          <a:prstGeom prst="roundRect">
            <a:avLst>
              <a:gd name="adj" fmla="val 5921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5256" y="179679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28216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可单测的世界生成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086356"/>
            <a:ext cx="4855464" cy="766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火山几何、晶巢格架、噪声混合、悬崖守卫、区域权重场全部拆成纯函数。世界生成敢改，是因为改坏了测试会先叫。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1536192"/>
            <a:ext cx="5294376" cy="1389888"/>
          </a:xfrm>
          <a:prstGeom prst="roundRect">
            <a:avLst>
              <a:gd name="adj" fmla="val 5921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79679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1728216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数据驱动的内容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86356"/>
            <a:ext cx="4855464" cy="766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笔记、海洋栈、配方、战利品表都是 JSON；reload listener 支持热重载，调平衡不用重新编译。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08960"/>
            <a:ext cx="5294376" cy="1389888"/>
          </a:xfrm>
          <a:prstGeom prst="roundRect">
            <a:avLst>
              <a:gd name="adj" fmla="val 5921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5256" y="3369564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300984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不写跨区块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659124"/>
            <a:ext cx="4855464" cy="766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列规划器每柱独立决策，接缝在原理上不可能出现——这是把「美术问题」消灭在架构层。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3108960"/>
            <a:ext cx="5294376" cy="1389888"/>
          </a:xfrm>
          <a:prstGeom prst="roundRect">
            <a:avLst>
              <a:gd name="adj" fmla="val 5921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3369564"/>
            <a:ext cx="50292" cy="173736"/>
          </a:xfrm>
          <a:prstGeom prst="roundRect">
            <a:avLst>
              <a:gd name="adj" fmla="val 36363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3300984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注释记录「为什么」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59124"/>
            <a:ext cx="4855464" cy="766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探测器参数与模型参数刻意分离：重导模型不会动射程，调平衡不会看起来像改了模型。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736592"/>
            <a:ext cx="10817352" cy="1188720"/>
          </a:xfrm>
          <a:prstGeom prst="roundRect">
            <a:avLst>
              <a:gd name="adj" fmla="val 6923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5256" y="499719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928616"/>
            <a:ext cx="10232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这意味着什么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5267705"/>
            <a:ext cx="10378440" cy="5844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后续四个主题里所有的新增内容，都不需要动到底层：加一条鱼 = 一个实体 + 一条笔记 JSON + 一组贴图；加一种饲养规则 = 一组参数 + 一批线索文本。</a:t>
            </a:r>
            <a:r>
              <a:rPr sz="12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内容的边际成本已经被压低到可以持续投入的水平。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c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084831"/>
            <a:ext cx="91440" cy="1874519"/>
          </a:xfrm>
          <a:prstGeom prst="rect">
            <a:avLst/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62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6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总设计路线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931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BFD8E2"/>
                </a:solidFill>
                <a:latin typeface="Microsoft YaHei"/>
                <a:ea typeface="微软雅黑"/>
                <a:cs typeface="微软雅黑"/>
              </a:rPr>
              <a:t>知识锁 · 非传统模组 · 海洋探索 · 博物学 · 科研 · 零散化主线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8C6D2"/>
                </a:solidFill>
                <a:latin typeface="Microsoft YaHei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DESIGN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知识锁：三层限制，同时存在、依次松开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玩家不是被数值挡住，而是被世界、装备、以及自己的无知挡住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36192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65376"/>
            <a:ext cx="3465576" cy="2944368"/>
          </a:xfrm>
          <a:prstGeom prst="roundRect">
            <a:avLst>
              <a:gd name="adj" fmla="val 279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65376"/>
            <a:ext cx="3465576" cy="50292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084831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世界定的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28600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物理锁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779776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空气存量、静水压力、温度带、光照与能见度、洋流。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4" y="3602736"/>
            <a:ext cx="2990087" cy="0"/>
          </a:xfrm>
          <a:prstGeom prst="line">
            <a:avLst/>
          </a:prstGeom>
          <a:ln w="11430">
            <a:solidFill>
              <a:srgbClr val="24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23544" y="3749039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玩家改不了，只能适应。它决定了「你能到哪」。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1865376"/>
            <a:ext cx="3465576" cy="2944368"/>
          </a:xfrm>
          <a:prstGeom prst="roundRect">
            <a:avLst>
              <a:gd name="adj" fmla="val 279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61688" y="1865376"/>
            <a:ext cx="3465576" cy="50292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2084831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装备定的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228600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技术锁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2779776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材料阶梯、仪器、载具、基地设施。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99431" y="3602736"/>
            <a:ext cx="2990088" cy="0"/>
          </a:xfrm>
          <a:prstGeom prst="line">
            <a:avLst/>
          </a:prstGeom>
          <a:ln w="11430">
            <a:solidFill>
              <a:srgbClr val="24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99431" y="3749039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用资源换能力。它决定了「你能待多久、看多远」。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5" y="1865376"/>
            <a:ext cx="3465576" cy="2944368"/>
          </a:xfrm>
          <a:prstGeom prst="roundRect">
            <a:avLst>
              <a:gd name="adj" fmla="val 279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37575" y="1865376"/>
            <a:ext cx="3465576" cy="50292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2084831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玩家定的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28600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认知锁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779776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这条鱼吃什么、这种草为什么长在这、那个回波为什么是空的。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75319" y="3602736"/>
            <a:ext cx="2990088" cy="0"/>
          </a:xfrm>
          <a:prstGeom prst="line">
            <a:avLst/>
          </a:prstGeom>
          <a:ln w="11430">
            <a:solidFill>
              <a:srgbClr val="24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75319" y="3749039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只能靠观察与线索。它决定了「你能不能真正用上前面两把锁」。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92624"/>
            <a:ext cx="10817352" cy="1207008"/>
          </a:xfrm>
          <a:prstGeom prst="roundRect">
            <a:avLst>
              <a:gd name="adj" fmla="val 6818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5256" y="525322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184648"/>
            <a:ext cx="10232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为什么必须是三层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523737"/>
            <a:ext cx="10378440" cy="60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只有技术锁 → 退化成普通科技树，玩家查 wiki 就能通关。只有物理锁 → 变成硬核生存，挫败感强但没有理解。</a:t>
            </a:r>
            <a:r>
              <a:rPr sz="120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三层同时存在时，「理解」才成为唯一的通关方式</a:t>
            </a: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：装备只把你送到问题面前，答案得自己看出来。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三个具体例子：锁长什么样，怎么开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10817352" cy="329184"/>
          </a:xfrm>
          <a:prstGeom prst="roundRect">
            <a:avLst>
              <a:gd name="adj" fmla="val 13888"/>
            </a:avLst>
          </a:prstGeom>
          <a:solidFill>
            <a:srgbClr val="14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23060"/>
            <a:ext cx="1544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玩家想做的事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0639" y="1623060"/>
            <a:ext cx="5704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锁的类别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5378" y="1623060"/>
            <a:ext cx="36560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他会撞到什么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5761" y="1623060"/>
            <a:ext cx="394937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他怎么把锁打开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38528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0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29968"/>
            <a:ext cx="1525927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想下中层海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0639" y="2029968"/>
            <a:ext cx="55213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物理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5378" y="2029968"/>
            <a:ext cx="3637774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静水压 0.24 起触发「氮醉」，屏幕与操作开始失真；玩家不知道是自己出问题了还是水有问题。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5761" y="2029968"/>
            <a:ext cx="393108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笔记里记下「大约多深开始晕」；换更高阶面罩推迟阈值；学会分段下潜而不是一路到底。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944368"/>
            <a:ext cx="1525927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想进水晶巢深处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0639" y="2944368"/>
            <a:ext cx="55213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技术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5378" y="2944368"/>
            <a:ext cx="3637774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能见度接近零。方块光无法跟随玩家，插火把没有意义——因为在别人的世界里，光照是烘进区块网格的。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5761" y="2944368"/>
            <a:ext cx="393108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手持探照灯的真实光束 + 有机玻璃观察舱 + 潜艇无人机打前站。先解决「看见」，才谈得上「研究」。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67328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0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858768"/>
            <a:ext cx="1525927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想养活噬矿鱼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0639" y="3858768"/>
            <a:ext cx="55213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认知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5378" y="3858768"/>
            <a:ext cx="3637774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它不吃任何常规饲料，在缸里会慢慢饿死，玩家只会看到「这条鱼养不活」。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5761" y="3858768"/>
            <a:ext cx="393108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观察到它在野外绕开整片珊瑚、直奔矿脉 → 缸底放矿石 → 它活下来，排泄物还是矿渣，可以当肥料。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3270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三行合起来才是完整的锁：</a:t>
            </a: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物理锁制造问题，技术锁提供工具，认知锁决定工具用不用得上。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非传统在哪：我们和「普通海洋模组」的区别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10817352" cy="329184"/>
          </a:xfrm>
          <a:prstGeom prst="roundRect">
            <a:avLst>
              <a:gd name="adj" fmla="val 13888"/>
            </a:avLst>
          </a:prstGeom>
          <a:solidFill>
            <a:srgbClr val="14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549908"/>
            <a:ext cx="1609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6416" y="1549908"/>
            <a:ext cx="391304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普通海洋模组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78" y="1549908"/>
            <a:ext cx="447135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Aquanaut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65376"/>
            <a:ext cx="10817352" cy="530352"/>
          </a:xfrm>
          <a:prstGeom prst="roundRect">
            <a:avLst>
              <a:gd name="adj" fmla="val 6896"/>
            </a:avLst>
          </a:prstGeom>
          <a:solidFill>
            <a:srgbClr val="0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1956816"/>
            <a:ext cx="1591704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世界里加什么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6416" y="1956816"/>
            <a:ext cx="3894754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新增一个海洋维度，与原版世界并列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78" y="1956816"/>
            <a:ext cx="4453069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改写原版深海柱体，让海洋本身变深、分层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487168"/>
            <a:ext cx="1591704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玩家怎么变强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6416" y="2487168"/>
            <a:ext cx="3894754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更好的装备 → 更高的数值 → 打更强的怪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78" y="2487168"/>
            <a:ext cx="4453069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更好的装备 → 能到达新的环境 → 遇到新的问题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26080"/>
            <a:ext cx="10817352" cy="530352"/>
          </a:xfrm>
          <a:prstGeom prst="roundRect">
            <a:avLst>
              <a:gd name="adj" fmla="val 6896"/>
            </a:avLst>
          </a:prstGeom>
          <a:solidFill>
            <a:srgbClr val="0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3017520"/>
            <a:ext cx="1591704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内容怎么解锁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6416" y="3017520"/>
            <a:ext cx="3894754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配方解锁 / 任务链 / 成就系统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78" y="3017520"/>
            <a:ext cx="4453069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认知解锁：看懂了才会用，看不懂有装备也没用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3547872"/>
            <a:ext cx="1591704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图鉴是什么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6416" y="3547872"/>
            <a:ext cx="3894754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收集进度条，告诉玩家「还差 12 条」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78" y="3547872"/>
            <a:ext cx="4453069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玩家自己写的研究笔记，未解锁处保留疑问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986784"/>
            <a:ext cx="10817352" cy="530352"/>
          </a:xfrm>
          <a:prstGeom prst="roundRect">
            <a:avLst>
              <a:gd name="adj" fmla="val 6896"/>
            </a:avLst>
          </a:prstGeom>
          <a:solidFill>
            <a:srgbClr val="0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4078224"/>
            <a:ext cx="1591704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主线怎么走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6416" y="4078224"/>
            <a:ext cx="3894754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一条任务链，A→B→C→D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78" y="4078224"/>
            <a:ext cx="4453069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一张散落的网，入口随机、顺序自选、终点唯一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4608576"/>
            <a:ext cx="1591704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失败是什么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6416" y="4608576"/>
            <a:ext cx="3894754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死亡与重来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78" y="4608576"/>
            <a:ext cx="4453069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死亡、养死、捞不到、认错——失败会产出知识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212079"/>
            <a:ext cx="10817352" cy="841248"/>
          </a:xfrm>
          <a:prstGeom prst="roundRect">
            <a:avLst>
              <a:gd name="adj" fmla="val 9782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5256" y="5472683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5404103"/>
            <a:ext cx="10232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真正的对手不是别的 mod，是玩家的「我已经知道了」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733668"/>
            <a:ext cx="10378440" cy="2465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所以内容必须</a:t>
            </a: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可被发现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，而不是</a:t>
            </a: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可被查询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——写进说明书的答案，等于把锁拆掉。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OCEAN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海洋探索：每一层给一个新问题，而不是一个更强的怪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17904"/>
            <a:ext cx="10817352" cy="877824"/>
          </a:xfrm>
          <a:prstGeom prst="roundRect">
            <a:avLst>
              <a:gd name="adj" fmla="val 937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17904"/>
            <a:ext cx="50292" cy="877824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表层海洋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16459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「这里多了什么？」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197510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珊瑚森林与凝胶丛林：熟悉的水面下，第一批不认识的生物与植物。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23744"/>
            <a:ext cx="10817352" cy="877824"/>
          </a:xfrm>
          <a:prstGeom prst="roundRect">
            <a:avLst>
              <a:gd name="adj" fmla="val 937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523744"/>
            <a:ext cx="50292" cy="877824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65176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礁顶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65176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「这层天花板是活的？」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98094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一片生物礁隔开上下两片海；约 1/3 的火山破顶，把两层物理打通。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29584"/>
            <a:ext cx="10817352" cy="877824"/>
          </a:xfrm>
          <a:prstGeom prst="roundRect">
            <a:avLst>
              <a:gd name="adj" fmla="val 937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529584"/>
            <a:ext cx="50292" cy="877824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576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中层海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365760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「为什么下面还有一片海？」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39867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盐镜峡、硫磺火山区、水晶巢：四种完全不同的生态与地质逻辑。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35424"/>
            <a:ext cx="10817352" cy="877824"/>
          </a:xfrm>
          <a:prstGeom prst="roundRect">
            <a:avLst>
              <a:gd name="adj" fmla="val 937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535424"/>
            <a:ext cx="50292" cy="877824"/>
          </a:xfrm>
          <a:prstGeom prst="roundRect">
            <a:avLst>
              <a:gd name="adj" fmla="val 36363"/>
            </a:avLst>
          </a:prstGeom>
          <a:solidFill>
            <a:srgbClr val="B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66344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深海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466344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B79BFF"/>
                </a:solidFill>
                <a:latin typeface="Microsoft YaHei"/>
                <a:ea typeface="微软雅黑"/>
                <a:cs typeface="微软雅黑"/>
              </a:rPr>
              <a:t>「下面还有东西在发信号？」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5728" y="499262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礁顶之下的静默层，目前只有一个占位群系——留给未来的深渊主线。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65099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节奏原则：</a:t>
            </a: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深度是唯一的进度条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。玩家不需要被告知「你该去中层海了」，他只需要在某个时刻意识到自己下不去了。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博物学是外壳，科研是方法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5294376" cy="2084831"/>
          </a:xfrm>
          <a:prstGeom prst="roundRect">
            <a:avLst>
              <a:gd name="adj" fmla="val 3947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5256" y="179679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28216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博物学：玩家在做 19 世纪的事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095881"/>
            <a:ext cx="4855464" cy="1451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采集、素描、命名、比对、争论。玩家不是在「收集图鉴」，而是在</a:t>
            </a:r>
            <a:r>
              <a:rPr sz="11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建立一座自己的自然史博物馆</a:t>
            </a:r>
            <a:r>
              <a:rPr sz="11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42000"/>
              </a:lnSpc>
            </a:pPr>
            <a:r>
              <a:rPr sz="11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</a:t>
            </a:r>
          </a:p>
          <a:p>
            <a:pPr algn="l">
              <a:lnSpc>
                <a:spcPct val="142000"/>
              </a:lnSpc>
            </a:pPr>
            <a:r>
              <a:rPr sz="11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装备与仪器是这个博物馆的采集工具：捞网、相机、解剖台、冲洗盆、白板。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55448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科研闭环：把它做成动词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9019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979676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>
                <a:solidFill>
                  <a:srgbClr val="06121A"/>
                </a:solidFill>
                <a:latin typeface="Microsoft YaHei"/>
                <a:ea typeface="微软雅黑"/>
                <a:cs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192024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遇见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17627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看一眼就上笔记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74536" y="2304288"/>
            <a:ext cx="0" cy="347472"/>
          </a:xfrm>
          <a:prstGeom prst="line">
            <a:avLst/>
          </a:prstGeom>
          <a:ln w="13970">
            <a:solidFill>
              <a:srgbClr val="2A6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82512" y="2688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76606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>
                <a:solidFill>
                  <a:srgbClr val="06121A"/>
                </a:solidFill>
                <a:latin typeface="Microsoft YaHei"/>
                <a:ea typeface="微软雅黑"/>
                <a:cs typeface="微软雅黑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270662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29626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形态 / 位置 / 行为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74536" y="3090672"/>
            <a:ext cx="0" cy="347472"/>
          </a:xfrm>
          <a:prstGeom prst="line">
            <a:avLst/>
          </a:prstGeom>
          <a:ln w="13970">
            <a:solidFill>
              <a:srgbClr val="2A6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82512" y="34747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552444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>
                <a:solidFill>
                  <a:srgbClr val="06121A"/>
                </a:solidFill>
                <a:latin typeface="Microsoft YaHei"/>
                <a:ea typeface="微软雅黑"/>
                <a:cs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49300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提问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749039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系统抛出一个疑问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74536" y="3877056"/>
            <a:ext cx="0" cy="347472"/>
          </a:xfrm>
          <a:prstGeom prst="line">
            <a:avLst/>
          </a:prstGeom>
          <a:ln w="13970">
            <a:solidFill>
              <a:srgbClr val="2A6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82512" y="4261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4338828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>
                <a:solidFill>
                  <a:srgbClr val="06121A"/>
                </a:solidFill>
                <a:latin typeface="Microsoft YaHei"/>
                <a:ea typeface="微软雅黑"/>
                <a:cs typeface="微软雅黑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27939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453542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取样、解剖、复现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74536" y="4663440"/>
            <a:ext cx="0" cy="347472"/>
          </a:xfrm>
          <a:prstGeom prst="line">
            <a:avLst/>
          </a:prstGeom>
          <a:ln w="13970">
            <a:solidFill>
              <a:srgbClr val="2A6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382512" y="50474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125212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>
                <a:solidFill>
                  <a:srgbClr val="06121A"/>
                </a:solidFill>
                <a:latin typeface="Microsoft YaHei"/>
                <a:ea typeface="微软雅黑"/>
                <a:cs typeface="微软雅黑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5065775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应用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5321807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装备、饲养、基地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3785616"/>
            <a:ext cx="10817352" cy="1920240"/>
          </a:xfrm>
          <a:prstGeom prst="roundRect">
            <a:avLst>
              <a:gd name="adj" fmla="val 428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5256" y="4046220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3977640"/>
            <a:ext cx="10232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三档门槛，每一档都给出「上一次没给出的那一页」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307205"/>
            <a:ext cx="10378440" cy="1325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低门槛（遭遇）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：远远看到就记录，保证任何人都有进展感。</a:t>
            </a:r>
          </a:p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</a:t>
            </a:r>
          </a:p>
          <a:p>
            <a:pPr algn="l">
              <a:lnSpc>
                <a:spcPct val="142000"/>
              </a:lnSpc>
            </a:pP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中门槛（捕获 / 取样）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：需要工具与手法，解锁食性与体型——玩家开始理解它「靠什么活着」。</a:t>
            </a:r>
          </a:p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</a:t>
            </a:r>
          </a:p>
          <a:p>
            <a:pPr algn="l">
              <a:lnSpc>
                <a:spcPct val="142000"/>
              </a:lnSpc>
            </a:pP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高门槛（击败 / 解剖）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：需要能力与准备，解锁变种与内部结构——只有真的下去过的人才拿得到。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MAINLINE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零散化主线：主线存在，但入口由玩家决定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不是一条链，是一张网——顺序不同，推理路径就不同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36192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47088"/>
            <a:ext cx="3465576" cy="2157984"/>
          </a:xfrm>
          <a:prstGeom prst="roundRect">
            <a:avLst>
              <a:gd name="adj" fmla="val 3813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5256" y="2107691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主线由「散落物」承载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397252"/>
            <a:ext cx="3026664" cy="15346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旧日志、旧胶卷、记录器、工作站残骸、异常回波。它们安静地待在世界的某个角落，不发光、不引导、不催促。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847088"/>
            <a:ext cx="3465576" cy="2157984"/>
          </a:xfrm>
          <a:prstGeom prst="roundRect">
            <a:avLst>
              <a:gd name="adj" fmla="val 3813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1144" y="2107691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入口随机，路径自选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397252"/>
            <a:ext cx="3026664" cy="15346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玩家可能先捡到胶片，也可能先听到声呐回波。任意一个入口都能走到终点，任意两个入口给出的顺序都不同。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1847088"/>
            <a:ext cx="3465576" cy="2157984"/>
          </a:xfrm>
          <a:prstGeom prst="roundRect">
            <a:avLst>
              <a:gd name="adj" fmla="val 3813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57031" y="2107691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20391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收束点唯一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397252"/>
            <a:ext cx="3026664" cy="15346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所有支线最终指向同一批真相：K-17 → 深渊信号 → 寂静海沟。散是形式，收是保证。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87952"/>
            <a:ext cx="10817352" cy="1828800"/>
          </a:xfrm>
          <a:prstGeom prst="roundRect">
            <a:avLst>
              <a:gd name="adj" fmla="val 4500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" y="444855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379976"/>
            <a:ext cx="10232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三条硬约束（内容作者必须遵守）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09541"/>
            <a:ext cx="10378440" cy="1234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① 可达性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：任意单入口必须能走到终点，不允许「必须先看到 A 才能理解 B」。</a:t>
            </a:r>
          </a:p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</a:t>
            </a:r>
          </a:p>
          <a:p>
            <a:pPr algn="l">
              <a:lnSpc>
                <a:spcPct val="142000"/>
              </a:lnSpc>
            </a:pP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② 可复现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：每一件散落物都必须能被反复找到或反复观测——玩家错过一次不能永久卡死。</a:t>
            </a:r>
          </a:p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</a:t>
            </a:r>
          </a:p>
          <a:p>
            <a:pPr algn="l">
              <a:lnSpc>
                <a:spcPct val="142000"/>
              </a:lnSpc>
            </a:pP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③ 不指路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：散落物只提供事实与疑问，不提供「前往坐标 X」。坐标可以是线索的一部分，但必须由玩家自己读出来。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一条完整的玩家体验线：没有任何任务提示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00784"/>
            <a:ext cx="1700784" cy="3017520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47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1284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浅海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87168"/>
            <a:ext cx="1371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19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捞到一张泡烂的胶卷。冲洗后几乎全黑——只有一片黑，和一组坐标。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1156" y="3072384"/>
            <a:ext cx="128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9172" y="1700784"/>
            <a:ext cx="1700784" cy="3017520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3764" y="1847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3764" y="221284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沉船遗址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3764" y="2487168"/>
            <a:ext cx="1371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19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潜到 K-17。笔记自动解锁「沉没的 K-17 工作站」，疑问随之出现：谁能够接触外部维护锁？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3072384"/>
            <a:ext cx="128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2544" y="1700784"/>
            <a:ext cx="1700784" cy="3017520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1847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21284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舷窗附近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487168"/>
            <a:ext cx="1371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19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生物探测器扫到蓝色孢子：每十一秒脉动一次，而周围礁石上完全没有。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7900" y="3072384"/>
            <a:ext cx="128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5916" y="1700784"/>
            <a:ext cx="1700784" cy="3017520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507" y="1847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507" y="221284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礁顶下方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507" y="2487168"/>
            <a:ext cx="1371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19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便携声呐打出空腔回波——脚下的礁顶是空的。想下去，先解决「看不见」。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2" y="3072384"/>
            <a:ext cx="128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9288" y="1700784"/>
            <a:ext cx="1700784" cy="3017520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847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B79BFF"/>
                </a:solidFill>
                <a:latin typeface="Microsoft YaHei"/>
                <a:ea typeface="微软雅黑"/>
                <a:cs typeface="微软雅黑"/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221284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B79BFF"/>
                </a:solidFill>
                <a:latin typeface="Microsoft YaHei"/>
                <a:ea typeface="微软雅黑"/>
                <a:cs typeface="微软雅黑"/>
              </a:rPr>
              <a:t>压力舱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2487168"/>
            <a:ext cx="1371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19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打捞记录器，得到「最后的日志」：四十三秒失真的声呐，与一组被说出的坐标。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4644" y="3072384"/>
            <a:ext cx="128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52659" y="1700784"/>
            <a:ext cx="1700784" cy="3017520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7251" y="1847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FF93B8"/>
                </a:solidFill>
                <a:latin typeface="Microsoft YaHei"/>
                <a:ea typeface="微软雅黑"/>
                <a:cs typeface="微软雅黑"/>
              </a:rPr>
              <a:t>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7251" y="221284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FF93B8"/>
                </a:solidFill>
                <a:latin typeface="Microsoft YaHei"/>
                <a:ea typeface="微软雅黑"/>
                <a:cs typeface="微软雅黑"/>
              </a:rPr>
              <a:t>调查板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7251" y="2487168"/>
            <a:ext cx="1371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19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连出「十一秒频率」，深渊信号节点亮起。主线收束到寂静海沟——玩家自己走完的。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1572768"/>
            <a:ext cx="10817352" cy="0"/>
          </a:xfrm>
          <a:prstGeom prst="line">
            <a:avLst/>
          </a:prstGeom>
          <a:ln w="12700">
            <a:solidFill>
              <a:srgbClr val="24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5800" y="4864608"/>
            <a:ext cx="10817352" cy="1280160"/>
          </a:xfrm>
          <a:prstGeom prst="roundRect">
            <a:avLst>
              <a:gd name="adj" fmla="val 6428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5256" y="5125212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056632"/>
            <a:ext cx="10232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这六步里，玩家从来没有被给过任务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5386197"/>
            <a:ext cx="10378440" cy="6854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他拿到的只有</a:t>
            </a: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事物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和</a:t>
            </a:r>
            <a:r>
              <a:rPr sz="11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疑问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：一张黑照片、一块被切断的支架、一段十一秒的间隔。解锁的不是地图标记，而是</a:t>
            </a:r>
            <a:r>
              <a:rPr sz="11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他自己想问的下一个问题</a:t>
            </a: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——这就是零散化主线的实际手感。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c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084831"/>
            <a:ext cx="91440" cy="1874519"/>
          </a:xfrm>
          <a:prstGeom prst="rect">
            <a:avLst/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62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6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线索的设计建议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931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BFD8E2"/>
                </a:solidFill>
                <a:latin typeface="Microsoft YaHei"/>
                <a:ea typeface="微软雅黑"/>
                <a:cs typeface="微软雅黑"/>
              </a:rPr>
              <a:t>遗留物与现场观测 · 文书 / 仪器 / 所思所想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8C6D2"/>
                </a:solidFill>
                <a:latin typeface="Microsoft YaHei"/>
                <a:ea typeface="微软雅黑"/>
                <a:cs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CLUE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两种来源 × 三种载体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17904"/>
            <a:ext cx="5294376" cy="1481328"/>
          </a:xfrm>
          <a:prstGeom prst="roundRect">
            <a:avLst>
              <a:gd name="adj" fmla="val 555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17904"/>
            <a:ext cx="5294376" cy="45720"/>
          </a:xfrm>
          <a:prstGeom prst="roundRect">
            <a:avLst>
              <a:gd name="adj" fmla="val 40000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3736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来源 A · 遗留物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048256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过去的痕迹：旧日志、旧胶卷、记录器、工作站残骸、墙上的刻痕、被覆盖的疏散命令。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59689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回答「这里发生过什么」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517904"/>
            <a:ext cx="5294376" cy="1481328"/>
          </a:xfrm>
          <a:prstGeom prst="roundRect">
            <a:avLst>
              <a:gd name="adj" fmla="val 555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7064" y="1517904"/>
            <a:ext cx="5294376" cy="45720"/>
          </a:xfrm>
          <a:prstGeom prst="roundRect">
            <a:avLst>
              <a:gd name="adj" fmla="val 40000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73736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来源 B · 现场观测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048256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现在的世界：探测器读数、声呐回波、以及玩家的感官——看到、听到、闻到的异常。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59689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回答「这里现在是什么」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18688"/>
            <a:ext cx="10817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三种载体：各自负责不同的信息类型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66160"/>
            <a:ext cx="3465576" cy="1517904"/>
          </a:xfrm>
          <a:prstGeom prst="roundRect">
            <a:avLst>
              <a:gd name="adj" fmla="val 5421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" y="376732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30752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文书线索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78224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可重复阅读，信息密度最高。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437083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1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负责</a:t>
            </a:r>
            <a:r>
              <a:rPr sz="1100" b="1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事实</a:t>
            </a:r>
            <a:r>
              <a:rPr sz="11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：谁、什么时候、在哪里、做了什么。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566160"/>
            <a:ext cx="3465576" cy="1517904"/>
          </a:xfrm>
          <a:prstGeom prst="roundRect">
            <a:avLst>
              <a:gd name="adj" fmla="val 5421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81144" y="376732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3730752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仪器线索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078224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可量化、可复现、可对比。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37083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10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负责</a:t>
            </a:r>
            <a:r>
              <a:rPr sz="1100" b="1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验证</a:t>
            </a:r>
            <a:r>
              <a:rPr sz="110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：把「我觉得」变成「我测到」。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7575" y="3566160"/>
            <a:ext cx="3465576" cy="1517904"/>
          </a:xfrm>
          <a:prstGeom prst="roundRect">
            <a:avLst>
              <a:gd name="adj" fmla="val 5421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57031" y="376732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3730752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所思所想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4078224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即时、碎片、带情绪。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437083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10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负责</a:t>
            </a:r>
            <a:r>
              <a:rPr sz="1100" b="1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引导</a:t>
            </a:r>
            <a:r>
              <a:rPr sz="110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：让玩家注意到一个他本来会忽略的细节。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230368"/>
            <a:ext cx="10817352" cy="841248"/>
          </a:xfrm>
          <a:prstGeom prst="roundRect">
            <a:avLst>
              <a:gd name="adj" fmla="val 9782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5256" y="5490972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422392"/>
            <a:ext cx="10232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一条规则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5751957"/>
            <a:ext cx="10378440" cy="2465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同一个真相至少需要两种载体互相印证，否则不成立。</a:t>
            </a: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单载体线索只能作为氛围或诱导，不能作为推理的支点。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CLUE /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文书线索：日志与胶卷该怎么写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10817352" cy="914400"/>
          </a:xfrm>
          <a:prstGeom prst="roundRect">
            <a:avLst>
              <a:gd name="adj" fmla="val 900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36192"/>
            <a:ext cx="50292" cy="914400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写「当时的人在急什么」，不写「你该去哪」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FF7E6B"/>
                </a:solidFill>
                <a:latin typeface="Microsoft YaHei"/>
                <a:ea typeface="微软雅黑"/>
                <a:cs typeface="微软雅黑"/>
              </a:rPr>
              <a:t>✗ 去寂静海沟找深渊信号。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67728" y="1682496"/>
            <a:ext cx="0" cy="621792"/>
          </a:xfrm>
          <a:prstGeom prst="line">
            <a:avLst/>
          </a:prstGeom>
          <a:ln w="11430">
            <a:solidFill>
              <a:srgbClr val="24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87184" y="193852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✓「四十三秒。我数到四十三秒，然后又是那个间隔。它不是在扫，它是在等。」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78608"/>
            <a:ext cx="10817352" cy="914400"/>
          </a:xfrm>
          <a:prstGeom prst="roundRect">
            <a:avLst>
              <a:gd name="adj" fmla="val 900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578608"/>
            <a:ext cx="50292" cy="914400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88336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照片的内容可以是「什么都没有」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980944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冲洗出来的胶片带坐标、时间与摄影者。一片黑也是线索：</a:t>
            </a:r>
            <a:r>
              <a:rPr sz="105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拍摄当时，光不在那里</a:t>
            </a: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67728" y="2724912"/>
            <a:ext cx="0" cy="621792"/>
          </a:xfrm>
          <a:prstGeom prst="line">
            <a:avLst/>
          </a:prstGeom>
          <a:ln w="11430">
            <a:solidFill>
              <a:srgbClr val="24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87184" y="2980944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每一张照片同时是物证与谜面。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184" y="2688336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21024"/>
            <a:ext cx="10817352" cy="914400"/>
          </a:xfrm>
          <a:prstGeom prst="roundRect">
            <a:avLst>
              <a:gd name="adj" fmla="val 900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621024"/>
            <a:ext cx="50292" cy="914400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730752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每一份文书只回答一个旧问题，同时提出一个新问题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02336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回答「支架是被切断的」，提出「谁能够接触外部维护锁？」——信息量与疑问量必须同时增加。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67728" y="3767328"/>
            <a:ext cx="0" cy="621792"/>
          </a:xfrm>
          <a:prstGeom prst="line">
            <a:avLst/>
          </a:prstGeom>
          <a:ln w="11430">
            <a:solidFill>
              <a:srgbClr val="24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87184" y="4023360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只回答不提问 = 死线索；只提问不回答 = 噪音。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373075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663440"/>
            <a:ext cx="10817352" cy="914400"/>
          </a:xfrm>
          <a:prstGeom prst="roundRect">
            <a:avLst>
              <a:gd name="adj" fmla="val 900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4663440"/>
            <a:ext cx="50292" cy="914400"/>
          </a:xfrm>
          <a:prstGeom prst="roundRect">
            <a:avLst>
              <a:gd name="adj" fmla="val 36363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77316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允许破损：缺口本身就是邀请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065776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缺字、断句、被覆盖的疏散命令、被水泡烂的角。完整的信息不需要玩家推理。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67728" y="4809744"/>
            <a:ext cx="0" cy="621792"/>
          </a:xfrm>
          <a:prstGeom prst="line">
            <a:avLst/>
          </a:prstGeom>
          <a:ln w="11430">
            <a:solidFill>
              <a:srgbClr val="24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87184" y="5065776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破损程度可以当作难度旋钮。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4" y="477316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要点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CLUE /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仪器线索：把世界变成可读的数据，但不给结论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3465576" cy="1700784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177393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373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声呐回波三分类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848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矿物 / 空腔 / 深渊，三种音色三种图形。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「回波中间是空的。这里不该有空腔。」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572768"/>
            <a:ext cx="3465576" cy="1700784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62855" y="177393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17373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生物探测器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0848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48 格范围、3.5 格全息球，潜水员可以游进这张图里读它。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65176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把一个区域的生态变成一张可以走动的地图。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1572768"/>
            <a:ext cx="3465576" cy="1700784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38744" y="177393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17373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探照灯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0848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光束照到的不是方块亮度，而是「看见了」。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65176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它不改变世界，只改变你能看到多少。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456432"/>
            <a:ext cx="3465576" cy="1700784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6968" y="3657600"/>
            <a:ext cx="50292" cy="173736"/>
          </a:xfrm>
          <a:prstGeom prst="roundRect">
            <a:avLst>
              <a:gd name="adj" fmla="val 36363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362102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贝壳相机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96849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照片带坐标、时间与摄影者，是可流通的物证。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535424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把「我来过」变成一件可以被别人看见的东西。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1688" y="3456432"/>
            <a:ext cx="3465576" cy="1700784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62855" y="3657600"/>
            <a:ext cx="50292" cy="173736"/>
          </a:xfrm>
          <a:prstGeom prst="roundRect">
            <a:avLst>
              <a:gd name="adj" fmla="val 36363"/>
            </a:avLst>
          </a:prstGeom>
          <a:solidFill>
            <a:srgbClr val="B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59" y="362102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气体流量计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396849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支路合流求解 + 可视化读数。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5" y="4535424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B79BFF"/>
                </a:solidFill>
                <a:latin typeface="Microsoft YaHei"/>
                <a:ea typeface="微软雅黑"/>
                <a:cs typeface="微软雅黑"/>
              </a:rPr>
              <a:t>把「管道通不通」从猜变成数字。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37575" y="3456432"/>
            <a:ext cx="3465576" cy="1700784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38744" y="3657600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7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362102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探照灯 · 反例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396849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如果仪器直接输出「前方 40 格有巨型章鱼」。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8744" y="4535424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FF7E6B"/>
                </a:solidFill>
                <a:latin typeface="Microsoft YaHei"/>
                <a:ea typeface="微软雅黑"/>
                <a:cs typeface="微软雅黑"/>
              </a:rPr>
              <a:t>那就不是线索，是外挂。</a:t>
            </a:r>
            <a:r>
              <a:rPr sz="1060" b="1">
                <a:solidFill>
                  <a:srgbClr val="FF7E6B"/>
                </a:solidFill>
                <a:latin typeface="Microsoft YaHei"/>
                <a:ea typeface="微软雅黑"/>
                <a:cs typeface="微软雅黑"/>
              </a:rPr>
              <a:t>仪器给数据，玩家下判断。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285231"/>
            <a:ext cx="10817352" cy="841248"/>
          </a:xfrm>
          <a:prstGeom prst="roundRect">
            <a:avLst>
              <a:gd name="adj" fmla="val 9782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5256" y="554583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477255"/>
            <a:ext cx="10232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分界线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5806820"/>
            <a:ext cx="10378440" cy="2465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仪器输出</a:t>
            </a:r>
            <a:r>
              <a:rPr sz="120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可被玩家重复测量的原始量</a:t>
            </a: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（回波形状、电荷变化、读数偏移）；一旦仪器开始输出判断，知识锁就失效了。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CLUE / INNER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「所思所想」文本：一个公式，三条语气规范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线索的主力形态：玩家看到某样东西时，心里冒出来的那句话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36192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10512"/>
            <a:ext cx="10817352" cy="1097280"/>
          </a:xfrm>
          <a:prstGeom prst="roundRect">
            <a:avLst>
              <a:gd name="adj" fmla="val 7500"/>
            </a:avLst>
          </a:prstGeom>
          <a:solidFill>
            <a:srgbClr val="123A4C"/>
          </a:solidFill>
          <a:ln w="13970">
            <a:solidFill>
              <a:srgbClr val="35E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56815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公式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1284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注意到的东西</a:t>
            </a:r>
            <a:r>
              <a:rPr sz="16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  ＋  </a:t>
            </a:r>
            <a:r>
              <a:rPr sz="16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一个具体细节（变化 / 反常 / 对比）</a:t>
            </a:r>
            <a:r>
              <a:rPr sz="16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  ＋  </a:t>
            </a:r>
            <a:r>
              <a:rPr sz="1600" b="1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一个没有被回答的问题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5294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对照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19856"/>
            <a:ext cx="5294376" cy="822960"/>
          </a:xfrm>
          <a:prstGeom prst="roundRect">
            <a:avLst>
              <a:gd name="adj" fmla="val 1000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3529584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✓  观察 + 变化 + 引出变量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785615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「它离开那股冷水之后，明显慢下来了。」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3419856"/>
            <a:ext cx="5294376" cy="822960"/>
          </a:xfrm>
          <a:prstGeom prst="roundRect">
            <a:avLst>
              <a:gd name="adj" fmla="val 1000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529584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7E6B"/>
                </a:solidFill>
                <a:latin typeface="Microsoft YaHei"/>
                <a:ea typeface="微软雅黑"/>
                <a:cs typeface="微软雅黑"/>
              </a:rPr>
              <a:t>✗  直接给答案，锁当场消失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785615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「寒冰行者需要低温才能存活。」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07408"/>
            <a:ext cx="5294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三条语气规范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29276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3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718304"/>
            <a:ext cx="5038344" cy="221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第一人称、现在时、短句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——像潜水员在水下自言自语，不是百科条目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31612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3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120640"/>
            <a:ext cx="5038344" cy="221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只用玩家此刻能感知的信息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，不作全知判断，不解释机制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33948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3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522976"/>
            <a:ext cx="5038344" cy="221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允许错误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：第一印象可以是错的，后面被证据推翻——这才是研究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4407408"/>
            <a:ext cx="5294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触发时机（各写一句，不要复用）</a:t>
            </a:r>
          </a:p>
        </p:txBody>
      </p:sp>
      <p:sp>
        <p:nvSpPr>
          <p:cNvPr id="27" name="Oval 26"/>
          <p:cNvSpPr/>
          <p:nvPr/>
        </p:nvSpPr>
        <p:spPr>
          <a:xfrm>
            <a:off x="6259068" y="4768596"/>
            <a:ext cx="100584" cy="100584"/>
          </a:xfrm>
          <a:prstGeom prst="ellipse">
            <a:avLst/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71830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首次看见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4718304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它长什么样、在做什么</a:t>
            </a:r>
          </a:p>
        </p:txBody>
      </p:sp>
      <p:sp>
        <p:nvSpPr>
          <p:cNvPr id="30" name="Oval 29"/>
          <p:cNvSpPr/>
          <p:nvPr/>
        </p:nvSpPr>
        <p:spPr>
          <a:xfrm>
            <a:off x="6259068" y="5244084"/>
            <a:ext cx="100584" cy="100584"/>
          </a:xfrm>
          <a:prstGeom prst="ellipse">
            <a:avLst/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19379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首次靠近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7" y="5193792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距离变化后暴露的新细节</a:t>
            </a:r>
          </a:p>
        </p:txBody>
      </p:sp>
      <p:sp>
        <p:nvSpPr>
          <p:cNvPr id="33" name="Oval 32"/>
          <p:cNvSpPr/>
          <p:nvPr/>
        </p:nvSpPr>
        <p:spPr>
          <a:xfrm>
            <a:off x="6259068" y="5719572"/>
            <a:ext cx="100584" cy="100584"/>
          </a:xfrm>
          <a:prstGeom prst="ellipse">
            <a:avLst/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66928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首次听到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5669280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声音、频率、节奏上的异常</a:t>
            </a:r>
          </a:p>
        </p:txBody>
      </p:sp>
      <p:sp>
        <p:nvSpPr>
          <p:cNvPr id="36" name="Oval 35"/>
          <p:cNvSpPr/>
          <p:nvPr/>
        </p:nvSpPr>
        <p:spPr>
          <a:xfrm>
            <a:off x="6259068" y="6195060"/>
            <a:ext cx="100584" cy="100584"/>
          </a:xfrm>
          <a:prstGeom prst="ellipse">
            <a:avLst/>
          </a:prstGeom>
          <a:solidFill>
            <a:srgbClr val="FF7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614476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FF7E6B"/>
                </a:solidFill>
                <a:latin typeface="Microsoft YaHei"/>
                <a:ea typeface="微软雅黑"/>
                <a:cs typeface="微软雅黑"/>
              </a:rPr>
              <a:t>首次失败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6144768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养死了、捞不到、被打——最有价值的一句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CLUE /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十二条「所思所想」示例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17904"/>
            <a:ext cx="3529584" cy="1024128"/>
          </a:xfrm>
          <a:prstGeom prst="roundRect">
            <a:avLst>
              <a:gd name="adj" fmla="val 803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海藻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4055" y="1618488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30" b="0">
                <a:solidFill>
                  <a:srgbClr val="9FBECB"/>
                </a:solidFill>
                <a:latin typeface="Microsoft YaHei"/>
                <a:ea typeface="微软雅黑"/>
                <a:cs typeface="微软雅黑"/>
              </a:rPr>
              <a:t>引出深度与光照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「这种草，似乎在更浅的地方见过。」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517904"/>
            <a:ext cx="3529584" cy="1024128"/>
          </a:xfrm>
          <a:prstGeom prst="roundRect">
            <a:avLst>
              <a:gd name="adj" fmla="val 803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62763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氧气滋生者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618488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30" b="0">
                <a:solidFill>
                  <a:srgbClr val="9FBECB"/>
                </a:solidFill>
                <a:latin typeface="Microsoft YaHei"/>
                <a:ea typeface="微软雅黑"/>
                <a:cs typeface="微软雅黑"/>
              </a:rPr>
              <a:t>引出溶氧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901952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「它周围的鱼……好像没有浮上去换气。」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2712" y="1517904"/>
            <a:ext cx="3529584" cy="1024128"/>
          </a:xfrm>
          <a:prstGeom prst="roundRect">
            <a:avLst>
              <a:gd name="adj" fmla="val 803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62763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寒冰行者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30967" y="1618488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30" b="0">
                <a:solidFill>
                  <a:srgbClr val="9FBECB"/>
                </a:solidFill>
                <a:latin typeface="Microsoft YaHei"/>
                <a:ea typeface="微软雅黑"/>
                <a:cs typeface="微软雅黑"/>
              </a:rPr>
              <a:t>引出温度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1901952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「离开那股冷水之后，它慢下来了。」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651760"/>
            <a:ext cx="3529584" cy="1024128"/>
          </a:xfrm>
          <a:prstGeom prst="roundRect">
            <a:avLst>
              <a:gd name="adj" fmla="val 803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7614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噬矿鱼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4055" y="2752344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30" b="0">
                <a:solidFill>
                  <a:srgbClr val="9FBECB"/>
                </a:solidFill>
                <a:latin typeface="Microsoft YaHei"/>
                <a:ea typeface="微软雅黑"/>
                <a:cs typeface="微软雅黑"/>
              </a:rPr>
              <a:t>引出食性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035808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「它绕开整片珊瑚，直奔那条矿脉。」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6" y="2651760"/>
            <a:ext cx="3529584" cy="1024128"/>
          </a:xfrm>
          <a:prstGeom prst="roundRect">
            <a:avLst>
              <a:gd name="adj" fmla="val 803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27614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水雷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752344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30" b="0">
                <a:solidFill>
                  <a:srgbClr val="9FBECB"/>
                </a:solidFill>
                <a:latin typeface="Microsoft YaHei"/>
                <a:ea typeface="微软雅黑"/>
                <a:cs typeface="微软雅黑"/>
              </a:rPr>
              <a:t>危险预警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3035808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「它蓄能的时候很安静。安静得不像在休息。」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82712" y="2651760"/>
            <a:ext cx="3529584" cy="1024128"/>
          </a:xfrm>
          <a:prstGeom prst="roundRect">
            <a:avLst>
              <a:gd name="adj" fmla="val 803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27614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卷齿鲨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7" y="2752344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30" b="0">
                <a:solidFill>
                  <a:srgbClr val="9FBECB"/>
                </a:solidFill>
                <a:latin typeface="Microsoft YaHei"/>
                <a:ea typeface="微软雅黑"/>
                <a:cs typeface="微软雅黑"/>
              </a:rPr>
              <a:t>引出装备需求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3035808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「齿列是螺旋的。那是钻头，不是牙。」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785616"/>
            <a:ext cx="3529584" cy="1024128"/>
          </a:xfrm>
          <a:prstGeom prst="roundRect">
            <a:avLst>
              <a:gd name="adj" fmla="val 803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8953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三头鲨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34055" y="3886200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30" b="0">
                <a:solidFill>
                  <a:srgbClr val="9FBECB"/>
                </a:solidFill>
                <a:latin typeface="Microsoft YaHei"/>
                <a:ea typeface="微软雅黑"/>
                <a:cs typeface="微软雅黑"/>
              </a:rPr>
              <a:t>引出战术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169664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「三个头朝不同方向——不是在找同一个东西。」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34256" y="3785616"/>
            <a:ext cx="3529584" cy="1024128"/>
          </a:xfrm>
          <a:prstGeom prst="roundRect">
            <a:avLst>
              <a:gd name="adj" fmla="val 803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38953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黄金鲤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886200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30" b="0">
                <a:solidFill>
                  <a:srgbClr val="9FBECB"/>
                </a:solidFill>
                <a:latin typeface="Microsoft YaHei"/>
                <a:ea typeface="微软雅黑"/>
                <a:cs typeface="微软雅黑"/>
              </a:rPr>
              <a:t>引出变种与资源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7136" y="4169664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「身上的金属光泽，不是活物该有的颜色。」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82712" y="3785616"/>
            <a:ext cx="3529584" cy="1024128"/>
          </a:xfrm>
          <a:prstGeom prst="roundRect">
            <a:avLst>
              <a:gd name="adj" fmla="val 803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65592" y="38953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辐射海葵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0967" y="3886200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30" b="0">
                <a:solidFill>
                  <a:srgbClr val="9FBECB"/>
                </a:solidFill>
                <a:latin typeface="Microsoft YaHei"/>
                <a:ea typeface="微软雅黑"/>
                <a:cs typeface="微软雅黑"/>
              </a:rPr>
              <a:t>引出环境效应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5592" y="4169664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「探测器在它旁边读数一直偏高。它自己不觉得。」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919472"/>
            <a:ext cx="3529584" cy="1024128"/>
          </a:xfrm>
          <a:prstGeom prst="roundRect">
            <a:avLst>
              <a:gd name="adj" fmla="val 803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0292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暗凝视者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34055" y="5020056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30" b="0">
                <a:solidFill>
                  <a:srgbClr val="9FBECB"/>
                </a:solidFill>
                <a:latin typeface="Microsoft YaHei"/>
                <a:ea typeface="微软雅黑"/>
                <a:cs typeface="微软雅黑"/>
              </a:rPr>
              <a:t>引出伏击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303520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「它一动不动，但对比度在它周围塌下去了。」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34256" y="4919472"/>
            <a:ext cx="3529584" cy="1024128"/>
          </a:xfrm>
          <a:prstGeom prst="roundRect">
            <a:avLst>
              <a:gd name="adj" fmla="val 803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17136" y="50292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巨型深渊蠕虫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5020056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30" b="0">
                <a:solidFill>
                  <a:srgbClr val="9FBECB"/>
                </a:solidFill>
                <a:latin typeface="Microsoft YaHei"/>
                <a:ea typeface="微软雅黑"/>
                <a:cs typeface="微软雅黑"/>
              </a:rPr>
              <a:t>引出巨兽尺度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17136" y="5303520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「它出现的时候，水流结构变了。」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82712" y="4919472"/>
            <a:ext cx="3529584" cy="1024128"/>
          </a:xfrm>
          <a:prstGeom prst="roundRect">
            <a:avLst>
              <a:gd name="adj" fmla="val 803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65592" y="50292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声呐空腔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30967" y="5020056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30" b="0">
                <a:solidFill>
                  <a:srgbClr val="9FBECB"/>
                </a:solidFill>
                <a:latin typeface="Microsoft YaHei"/>
                <a:ea typeface="微软雅黑"/>
                <a:cs typeface="微软雅黑"/>
              </a:rPr>
              <a:t>引出隐藏空间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5592" y="5303520"/>
            <a:ext cx="3163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「回波中间是空的。这里不该有空腔。」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CLUE /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线索链示例：K-17 是怎么被连起来的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9344"/>
            <a:ext cx="7589520" cy="2926080"/>
          </a:xfrm>
          <a:prstGeom prst="roundRect">
            <a:avLst>
              <a:gd name="adj" fmla="val 2812"/>
            </a:avLst>
          </a:prstGeom>
          <a:solidFill>
            <a:srgbClr val="06152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2026904" y="2194560"/>
            <a:ext cx="1259449" cy="832104"/>
          </a:xfrm>
          <a:prstGeom prst="line">
            <a:avLst/>
          </a:prstGeom>
          <a:ln w="17780">
            <a:solidFill>
              <a:srgbClr val="58B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26904" y="3026664"/>
            <a:ext cx="1259449" cy="886968"/>
          </a:xfrm>
          <a:prstGeom prst="line">
            <a:avLst/>
          </a:prstGeom>
          <a:ln w="17780">
            <a:solidFill>
              <a:srgbClr val="58B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86353" y="2194560"/>
            <a:ext cx="1350889" cy="877824"/>
          </a:xfrm>
          <a:prstGeom prst="line">
            <a:avLst/>
          </a:prstGeom>
          <a:ln w="17780">
            <a:solidFill>
              <a:srgbClr val="58B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637242" y="2194560"/>
            <a:ext cx="1350889" cy="877824"/>
          </a:xfrm>
          <a:prstGeom prst="line">
            <a:avLst/>
          </a:prstGeom>
          <a:ln w="17780">
            <a:solidFill>
              <a:srgbClr val="58B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86353" y="3913632"/>
            <a:ext cx="2701778" cy="0"/>
          </a:xfrm>
          <a:prstGeom prst="line">
            <a:avLst/>
          </a:prstGeom>
          <a:ln w="17780">
            <a:solidFill>
              <a:srgbClr val="58B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37242" y="3072384"/>
            <a:ext cx="1350889" cy="841248"/>
          </a:xfrm>
          <a:prstGeom prst="line">
            <a:avLst/>
          </a:prstGeom>
          <a:ln w="17780">
            <a:solidFill>
              <a:srgbClr val="58B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135364" y="2670048"/>
            <a:ext cx="1783080" cy="713232"/>
          </a:xfrm>
          <a:prstGeom prst="roundRect">
            <a:avLst>
              <a:gd name="adj" fmla="val 8974"/>
            </a:avLst>
          </a:prstGeom>
          <a:solidFill>
            <a:srgbClr val="123244"/>
          </a:solidFill>
          <a:ln w="12700">
            <a:solidFill>
              <a:srgbClr val="35E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5364" y="2889504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沉没的 K-17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6253" y="1865376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123244"/>
          </a:solidFill>
          <a:ln w="12700">
            <a:solidFill>
              <a:srgbClr val="6B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6253" y="208483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碎裂舷窗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86253" y="3584448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123244"/>
          </a:solidFill>
          <a:ln w="12700">
            <a:solidFill>
              <a:srgbClr val="FFB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86253" y="3803904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发光孢子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37142" y="2743200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123244"/>
          </a:solidFill>
          <a:ln w="12700">
            <a:solidFill>
              <a:srgbClr val="35E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37142" y="2962656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最后的日志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8031" y="1865376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123244"/>
          </a:solidFill>
          <a:ln w="12700">
            <a:solidFill>
              <a:srgbClr val="6B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8031" y="208483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深渊信号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88031" y="3584448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123244"/>
          </a:solidFill>
          <a:ln w="12700">
            <a:solidFill>
              <a:srgbClr val="FFB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88031" y="3803904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寂静海沟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98261" y="2491740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0C2735"/>
          </a:solidFill>
          <a:ln w="9525">
            <a:solidFill>
              <a:srgbClr val="2E6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98261" y="2532888"/>
            <a:ext cx="13167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19" b="0">
                <a:solidFill>
                  <a:srgbClr val="BEDDE7"/>
                </a:solidFill>
                <a:latin typeface="Microsoft YaHei"/>
                <a:ea typeface="微软雅黑"/>
                <a:cs typeface="微软雅黑"/>
              </a:rPr>
              <a:t>外部撞击轨迹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98261" y="3351276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0C2735"/>
          </a:solidFill>
          <a:ln w="9525">
            <a:solidFill>
              <a:srgbClr val="2E6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98261" y="3392424"/>
            <a:ext cx="13167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19" b="0">
                <a:solidFill>
                  <a:srgbClr val="BEDDE7"/>
                </a:solidFill>
                <a:latin typeface="Microsoft YaHei"/>
                <a:ea typeface="微软雅黑"/>
                <a:cs typeface="微软雅黑"/>
              </a:rPr>
              <a:t>吻合的生物痕迹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03430" y="2514600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0C2735"/>
          </a:solidFill>
          <a:ln w="9525">
            <a:solidFill>
              <a:srgbClr val="2E6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03430" y="2555748"/>
            <a:ext cx="13167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19" b="0">
                <a:solidFill>
                  <a:srgbClr val="BEDDE7"/>
                </a:solidFill>
                <a:latin typeface="Microsoft YaHei"/>
                <a:ea typeface="微软雅黑"/>
                <a:cs typeface="微软雅黑"/>
              </a:rPr>
              <a:t>复原的时间戳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54318" y="2514600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0C2735"/>
          </a:solidFill>
          <a:ln w="9525">
            <a:solidFill>
              <a:srgbClr val="2E6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4318" y="2555748"/>
            <a:ext cx="13167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19" b="0">
                <a:solidFill>
                  <a:srgbClr val="BEDDE7"/>
                </a:solidFill>
                <a:latin typeface="Microsoft YaHei"/>
                <a:ea typeface="微软雅黑"/>
                <a:cs typeface="微软雅黑"/>
              </a:rPr>
              <a:t>十一秒频率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78874" y="3794760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0C2735"/>
          </a:solidFill>
          <a:ln w="9525">
            <a:solidFill>
              <a:srgbClr val="2E6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78874" y="3835908"/>
            <a:ext cx="13167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19" b="0">
                <a:solidFill>
                  <a:srgbClr val="BEDDE7"/>
                </a:solidFill>
                <a:latin typeface="Microsoft YaHei"/>
                <a:ea typeface="微软雅黑"/>
                <a:cs typeface="微软雅黑"/>
              </a:rPr>
              <a:t>断裂的迁徙路线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54318" y="3374136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0C2735"/>
          </a:solidFill>
          <a:ln w="9525">
            <a:solidFill>
              <a:srgbClr val="2E6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4318" y="3415284"/>
            <a:ext cx="13167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19" b="0">
                <a:solidFill>
                  <a:srgbClr val="BEDDE7"/>
                </a:solidFill>
                <a:latin typeface="Microsoft YaHei"/>
                <a:ea typeface="微软雅黑"/>
                <a:cs typeface="微软雅黑"/>
              </a:rPr>
              <a:t>口述坐标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1627632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三条硬约束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1967788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5672" y="1956816"/>
            <a:ext cx="2697480" cy="383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每条连线都必须有至少一个</a:t>
            </a:r>
            <a:r>
              <a:rPr sz="104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可反复观测</a:t>
            </a: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的证据源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2507081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5672" y="2496108"/>
            <a:ext cx="2697480" cy="383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节点只能被</a:t>
            </a:r>
            <a:r>
              <a:rPr sz="104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发现</a:t>
            </a: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，不能被</a:t>
            </a:r>
            <a:r>
              <a:rPr sz="104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给予</a:t>
            </a: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（没有「接到任务」这一步）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3046374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5672" y="3035401"/>
            <a:ext cx="2697480" cy="214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线索之间允许矛盾；矛盾是驱动力，不是 bug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49640" y="3529584"/>
            <a:ext cx="2953512" cy="1463040"/>
          </a:xfrm>
          <a:prstGeom prst="roundRect">
            <a:avLst>
              <a:gd name="adj" fmla="val 5624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769096" y="3790187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15400" y="3721607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这张图的用法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69096" y="4032122"/>
            <a:ext cx="2514600" cy="8873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把六个节点画在白板上、把六条线交给玩家自己连。系统只负责在正确的时刻</a:t>
            </a:r>
            <a:r>
              <a:rPr sz="106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把线变成红色</a:t>
            </a: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——那一下就是玩家的「啊哈」。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CLUE /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线索强度分级，以及四条「不要做」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294376" cy="969264"/>
          </a:xfrm>
          <a:prstGeom prst="roundRect">
            <a:avLst>
              <a:gd name="adj" fmla="val 849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50292" cy="969264"/>
          </a:xfrm>
          <a:prstGeom prst="roundRect">
            <a:avLst>
              <a:gd name="adj" fmla="val 36363"/>
            </a:avLst>
          </a:prstGeom>
          <a:solidFill>
            <a:srgbClr val="FF7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07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7E6B"/>
                </a:solidFill>
                <a:latin typeface="Microsoft YaHei"/>
                <a:ea typeface="微软雅黑"/>
                <a:cs typeface="微软雅黑"/>
              </a:rPr>
              <a:t>L1 · 明示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直接指向一个地点或物品。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865376"/>
            <a:ext cx="1975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≤ 20%　只用于防止卡死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70048"/>
            <a:ext cx="5294376" cy="969264"/>
          </a:xfrm>
          <a:prstGeom prst="roundRect">
            <a:avLst>
              <a:gd name="adj" fmla="val 849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670048"/>
            <a:ext cx="50292" cy="969264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8163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L2 · 暗示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127248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给出变量与方向，不给出答案。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980944"/>
            <a:ext cx="1975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≈ 60%　线索的主力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85616"/>
            <a:ext cx="5294376" cy="969264"/>
          </a:xfrm>
          <a:prstGeom prst="roundRect">
            <a:avLst>
              <a:gd name="adj" fmla="val 849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785616"/>
            <a:ext cx="50292" cy="969264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93192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L3 · 待证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42816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只是一个异常，问题要玩家自己提。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096512"/>
            <a:ext cx="1975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≈ 20%　负责惊喜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56048"/>
            <a:ext cx="5294376" cy="1005840"/>
          </a:xfrm>
          <a:prstGeom prst="roundRect">
            <a:avLst>
              <a:gd name="adj" fmla="val 8181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5256" y="5216652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7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148072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为什么要留 L1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468112"/>
            <a:ext cx="48554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不是每个玩家都想当研究员。L1 是</a:t>
            </a:r>
            <a:r>
              <a:rPr sz="110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卡死保护</a:t>
            </a: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：只回答「下一步在哪」，绝不回答「为什么」。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1572768"/>
            <a:ext cx="5294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四条「不要做」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1920240"/>
            <a:ext cx="5294376" cy="859536"/>
          </a:xfrm>
          <a:prstGeom prst="roundRect">
            <a:avLst>
              <a:gd name="adj" fmla="val 9574"/>
            </a:avLst>
          </a:prstGeom>
          <a:solidFill>
            <a:srgbClr val="1A1014"/>
          </a:solidFill>
          <a:ln w="9525">
            <a:solidFill>
              <a:srgbClr val="5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203911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80" b="0">
                <a:solidFill>
                  <a:srgbClr val="FF7E6B"/>
                </a:solidFill>
                <a:latin typeface="Microsoft YaHei"/>
                <a:ea typeface="微软雅黑"/>
                <a:cs typeface="微软雅黑"/>
              </a:rPr>
              <a:t>✗  把答案写进物品说明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234086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知识锁当场失效。说明书写用途，不写原理。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2926080"/>
            <a:ext cx="5294376" cy="859536"/>
          </a:xfrm>
          <a:prstGeom prst="roundRect">
            <a:avLst>
              <a:gd name="adj" fmla="val 9574"/>
            </a:avLst>
          </a:prstGeom>
          <a:solidFill>
            <a:srgbClr val="1A1014"/>
          </a:solidFill>
          <a:ln w="9525">
            <a:solidFill>
              <a:srgbClr val="5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304495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80" b="0">
                <a:solidFill>
                  <a:srgbClr val="FF7E6B"/>
                </a:solidFill>
                <a:latin typeface="Microsoft YaHei"/>
                <a:ea typeface="微软雅黑"/>
                <a:cs typeface="微软雅黑"/>
              </a:rPr>
              <a:t>✗  线索只出现一次且不可复现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34670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错过即永久卡死——这是设计事故，不是难度。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931920"/>
            <a:ext cx="5294376" cy="859536"/>
          </a:xfrm>
          <a:prstGeom prst="roundRect">
            <a:avLst>
              <a:gd name="adj" fmla="val 9574"/>
            </a:avLst>
          </a:prstGeom>
          <a:solidFill>
            <a:srgbClr val="1A1014"/>
          </a:solidFill>
          <a:ln w="9525">
            <a:solidFill>
              <a:srgbClr val="5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405079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80" b="0">
                <a:solidFill>
                  <a:srgbClr val="FF7E6B"/>
                </a:solidFill>
                <a:latin typeface="Microsoft YaHei"/>
                <a:ea typeface="微软雅黑"/>
                <a:cs typeface="微软雅黑"/>
              </a:rPr>
              <a:t>✗  用任务列表替代观察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435254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一旦有了 checklist，玩家就再也不会抬头看世界。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8776" y="4937760"/>
            <a:ext cx="5294376" cy="859536"/>
          </a:xfrm>
          <a:prstGeom prst="roundRect">
            <a:avLst>
              <a:gd name="adj" fmla="val 9574"/>
            </a:avLst>
          </a:prstGeom>
          <a:solidFill>
            <a:srgbClr val="1A1014"/>
          </a:solidFill>
          <a:ln w="9525">
            <a:solidFill>
              <a:srgbClr val="5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505663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80" b="0">
                <a:solidFill>
                  <a:srgbClr val="FF7E6B"/>
                </a:solidFill>
                <a:latin typeface="Microsoft YaHei"/>
                <a:ea typeface="微软雅黑"/>
                <a:cs typeface="微软雅黑"/>
              </a:rPr>
              <a:t>✗  线索文本比玩家能感知的更多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535838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全知视角会立刻暴露「这是设计好的」，沉浸感断裂。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c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084831"/>
            <a:ext cx="91440" cy="1874519"/>
          </a:xfrm>
          <a:prstGeom prst="rect">
            <a:avLst/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62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6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未来的策划路线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931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BFD8E2"/>
                </a:solidFill>
                <a:latin typeface="Microsoft YaHei"/>
                <a:ea typeface="微软雅黑"/>
                <a:cs typeface="微软雅黑"/>
              </a:rPr>
              <a:t>养成 · 种地 · 基地建设 · 科研设施 —— 依然是知识锁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A8C6D2"/>
                </a:solidFill>
                <a:latin typeface="Microsoft YaHei"/>
                <a:ea typeface="微软雅黑"/>
                <a:cs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三个阶段：能待下去 → 想再看一眼 → 舍不得走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465576" cy="3931920"/>
          </a:xfrm>
          <a:prstGeom prst="roundRect">
            <a:avLst>
              <a:gd name="adj" fmla="val 2374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3465576" cy="54864"/>
          </a:xfrm>
          <a:prstGeom prst="roundRect">
            <a:avLst>
              <a:gd name="adj" fmla="val 3333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7393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Phase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197510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打地基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2257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现在 → 下一个里程碑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8102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670048"/>
            <a:ext cx="2807208" cy="214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生态位补全：中层海与盐镜峡物种补齐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065068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54096"/>
            <a:ext cx="2807208" cy="214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线索系统 v1：所思所想文本框架上线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449116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438144"/>
            <a:ext cx="2807208" cy="214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饲养原型：参数模型与行为表达跑通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3544" y="4215383"/>
            <a:ext cx="2990087" cy="0"/>
          </a:xfrm>
          <a:prstGeom prst="line">
            <a:avLst/>
          </a:prstGeom>
          <a:ln w="11430">
            <a:solidFill>
              <a:srgbClr val="24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23544" y="43891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让玩家「能待下去」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1554480"/>
            <a:ext cx="3465576" cy="3931920"/>
          </a:xfrm>
          <a:prstGeom prst="roundRect">
            <a:avLst>
              <a:gd name="adj" fmla="val 2374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61688" y="1554480"/>
            <a:ext cx="3465576" cy="54864"/>
          </a:xfrm>
          <a:prstGeom prst="roundRect">
            <a:avLst>
              <a:gd name="adj" fmla="val 3333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1" y="177393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Phase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1" y="197510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让世界活起来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232257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A 之后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144" y="268102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7176" y="2670048"/>
            <a:ext cx="2807208" cy="214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鱼群行为与种间关系（捕食、共生、驱避）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3065068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7176" y="3054096"/>
            <a:ext cx="2807208" cy="214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洋流、温度带、能见度的季节变化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3449116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37176" y="3438144"/>
            <a:ext cx="2807208" cy="214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更多可发现物：残骸、刻痕、漂流的记录器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99431" y="4215383"/>
            <a:ext cx="2990088" cy="0"/>
          </a:xfrm>
          <a:prstGeom prst="line">
            <a:avLst/>
          </a:prstGeom>
          <a:ln w="11430">
            <a:solidFill>
              <a:srgbClr val="24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99431" y="43891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让玩家「想再看一眼」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37575" y="1554480"/>
            <a:ext cx="3465576" cy="3931920"/>
          </a:xfrm>
          <a:prstGeom prst="roundRect">
            <a:avLst>
              <a:gd name="adj" fmla="val 2374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37575" y="1554480"/>
            <a:ext cx="3465576" cy="54864"/>
          </a:xfrm>
          <a:prstGeom prst="roundRect">
            <a:avLst>
              <a:gd name="adj" fmla="val 33333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19" y="177393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Phase 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197510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让玩家留下来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232257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B 之后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7031" y="268102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13063" y="2670048"/>
            <a:ext cx="2807208" cy="214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基地建设：气闸、供气、观察舱、养殖区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1" y="3065068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13063" y="3054096"/>
            <a:ext cx="2807208" cy="214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完整养殖与种植循环，产出互相喂养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31" y="3449116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9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13063" y="3438144"/>
            <a:ext cx="2807208" cy="214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科研产出链与可重复的长期目标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75319" y="4215383"/>
            <a:ext cx="2990088" cy="0"/>
          </a:xfrm>
          <a:prstGeom prst="line">
            <a:avLst/>
          </a:prstGeom>
          <a:ln w="11430">
            <a:solidFill>
              <a:srgbClr val="24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275319" y="43891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让玩家「舍不得走」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FUTURE / HUSBANDRY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每条鱼有八个隐藏参数，玩家看不见面板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饲养方式靠线索摸索——这正是「知识锁」从探索延伸到经营的地方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36192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83664"/>
            <a:ext cx="1316736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082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温度带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7691" y="1883664"/>
            <a:ext cx="1316736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7691" y="202082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盐度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1883664"/>
            <a:ext cx="1316736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02082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压力下限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51476" y="1883664"/>
            <a:ext cx="1316736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1476" y="202082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溶氧需求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3368" y="1883664"/>
            <a:ext cx="1316736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02082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光照周期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5259" y="1883664"/>
            <a:ext cx="1316736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5259" y="202082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食性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7152" y="1883664"/>
            <a:ext cx="1316736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202082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底质偏好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39044" y="1883664"/>
            <a:ext cx="1316736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39044" y="202082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5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共生与相克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615184"/>
            <a:ext cx="10817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四条设计规则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2944368"/>
            <a:ext cx="2615184" cy="1316736"/>
          </a:xfrm>
          <a:prstGeom prst="roundRect">
            <a:avLst>
              <a:gd name="adj" fmla="val 625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6968" y="312724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1" y="3090672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8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参数永不直接显示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3566160"/>
            <a:ext cx="223113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只通过「鱼的行为」表达。玩家看到的是现象，不是数值。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47288" y="2944368"/>
            <a:ext cx="2615184" cy="1316736"/>
          </a:xfrm>
          <a:prstGeom prst="roundRect">
            <a:avLst>
              <a:gd name="adj" fmla="val 625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48456" y="312724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3090672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8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失败也有产出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48456" y="3566160"/>
            <a:ext cx="223113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养死一次，笔记解锁一条「饲养要点」。失败是教学，不是惩罚。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2944368"/>
            <a:ext cx="2615184" cy="1316736"/>
          </a:xfrm>
          <a:prstGeom prst="roundRect">
            <a:avLst>
              <a:gd name="adj" fmla="val 625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9944" y="312724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3090672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8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每条鱼至少一个反直觉参数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3566160"/>
            <a:ext cx="223113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例如喜欢脏水、讨厌光、需要被同类挤着才进食。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0264" y="2944368"/>
            <a:ext cx="2615184" cy="1316736"/>
          </a:xfrm>
          <a:prstGeom prst="roundRect">
            <a:avLst>
              <a:gd name="adj" fmla="val 625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71432" y="312724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17736" y="3090672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8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养对了要改变行为或产物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1432" y="3566160"/>
            <a:ext cx="223113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不是加一个 buff，而是它开始做一件以前不做的事。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4443983"/>
            <a:ext cx="10817352" cy="1572768"/>
          </a:xfrm>
          <a:prstGeom prst="roundRect">
            <a:avLst>
              <a:gd name="adj" fmla="val 5232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5256" y="4704588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4636007"/>
            <a:ext cx="10232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为什么这样设计能撑起长期内容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4975097"/>
            <a:ext cx="10378440" cy="968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一个八维参数空间，配合「行为表达 + 失败解锁」，可以支撑</a:t>
            </a:r>
            <a:r>
              <a:rPr sz="11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几十条鱼各不相同</a:t>
            </a:r>
            <a:r>
              <a:rPr sz="11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的饲养体验，而且不需要为每条鱼写一套专属系统——内容作者写的是参数与线索文本，系统只有一套。</a:t>
            </a:r>
          </a:p>
          <a:p>
            <a:pPr algn="l">
              <a:lnSpc>
                <a:spcPct val="142000"/>
              </a:lnSpc>
            </a:pPr>
            <a:r>
              <a:rPr sz="11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 </a:t>
            </a:r>
          </a:p>
          <a:p>
            <a:pPr algn="l">
              <a:lnSpc>
                <a:spcPct val="142000"/>
              </a:lnSpc>
            </a:pPr>
            <a:r>
              <a:rPr sz="11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更关键的是：</a:t>
            </a:r>
            <a:r>
              <a:rPr sz="118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这一套完全复用了探索期的知识锁机制</a:t>
            </a:r>
            <a:r>
              <a:rPr sz="11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。玩家在探索时学会「看行为、推原因」，回到基地依然在用同一套技能。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FUTURE /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行为即 UI：把参数翻译成玩家看得懂的动作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6903720" cy="329184"/>
          </a:xfrm>
          <a:prstGeom prst="roundRect">
            <a:avLst>
              <a:gd name="adj" fmla="val 13888"/>
            </a:avLst>
          </a:prstGeom>
          <a:solidFill>
            <a:srgbClr val="14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23060"/>
            <a:ext cx="18214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观察到的行为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7876" y="1623060"/>
            <a:ext cx="15748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可能的参数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7086" y="1623060"/>
            <a:ext cx="2684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玩家该试什么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6903720" cy="521207"/>
          </a:xfrm>
          <a:prstGeom prst="roundRect">
            <a:avLst>
              <a:gd name="adj" fmla="val 7017"/>
            </a:avLst>
          </a:prstGeom>
          <a:solidFill>
            <a:srgbClr val="0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029968"/>
            <a:ext cx="1803164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贴着缸底不动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7876" y="2029968"/>
            <a:ext cx="1556602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压力不足 / 底质不对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7086" y="2029968"/>
            <a:ext cx="2666129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加高水位，或换掉缸底材质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551176"/>
            <a:ext cx="1803164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一直撞同一面玻璃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7876" y="2551176"/>
            <a:ext cx="1556602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趋光，或需要开阔面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7086" y="2551176"/>
            <a:ext cx="2666129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调整光源方向 / 换成更长的缸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80944"/>
            <a:ext cx="6903720" cy="521207"/>
          </a:xfrm>
          <a:prstGeom prst="roundRect">
            <a:avLst>
              <a:gd name="adj" fmla="val 7017"/>
            </a:avLst>
          </a:prstGeom>
          <a:solidFill>
            <a:srgbClr val="0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3072384"/>
            <a:ext cx="1803164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鱼鳍下垂、浮头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7876" y="3072384"/>
            <a:ext cx="1556602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溶氧不足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7086" y="3072384"/>
            <a:ext cx="2666129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引入氧气滋生者，或增加光照时段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3593591"/>
            <a:ext cx="1803164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体色变淡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7876" y="3593591"/>
            <a:ext cx="1556602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温度偏高 / 应激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7086" y="3593591"/>
            <a:ext cx="2666129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降温，或降低同缸密度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23359"/>
            <a:ext cx="6903720" cy="521207"/>
          </a:xfrm>
          <a:prstGeom prst="roundRect">
            <a:avLst>
              <a:gd name="adj" fmla="val 7017"/>
            </a:avLst>
          </a:prstGeom>
          <a:solidFill>
            <a:srgbClr val="0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4114799"/>
            <a:ext cx="1803164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只在夜间活跃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7876" y="4114799"/>
            <a:ext cx="1556602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光照周期反了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7086" y="4114799"/>
            <a:ext cx="2666129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关灯，或把缸移到无光区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4636007"/>
            <a:ext cx="1803164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只吃活饵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7876" y="4636007"/>
            <a:ext cx="1556602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食性未匹配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7086" y="4636007"/>
            <a:ext cx="2666129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换饲料，或用捞网抓活食投喂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065776"/>
            <a:ext cx="6903720" cy="521207"/>
          </a:xfrm>
          <a:prstGeom prst="roundRect">
            <a:avLst>
              <a:gd name="adj" fmla="val 7017"/>
            </a:avLst>
          </a:prstGeom>
          <a:solidFill>
            <a:srgbClr val="0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" y="5157216"/>
            <a:ext cx="1803164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开始啃缸底的石头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7876" y="5157216"/>
            <a:ext cx="1556602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缺矿 / 磨牙需求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7086" y="5157216"/>
            <a:ext cx="2666129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铺一层矿石，观察它吃哪一种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1554480"/>
            <a:ext cx="3685032" cy="1847088"/>
          </a:xfrm>
          <a:prstGeom prst="roundRect">
            <a:avLst>
              <a:gd name="adj" fmla="val 445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37576" y="1815084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1746504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关键：诊断而不是开关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7576" y="2076069"/>
            <a:ext cx="3246120" cy="1252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玩家做的不是「把温度调到 12 度」，而是</a:t>
            </a:r>
            <a:r>
              <a:rPr sz="110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提出假设 → 做一次改变 → 观察反馈</a:t>
            </a: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。同一个行为可能对应两个原因，玩家需要排除法——这就是研究。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8120" y="3547872"/>
            <a:ext cx="3685032" cy="1847088"/>
          </a:xfrm>
          <a:prstGeom prst="roundRect">
            <a:avLst>
              <a:gd name="adj" fmla="val 4455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37576" y="380847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3739896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反馈要给足，但不能给答案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6" y="4069461"/>
            <a:ext cx="3246120" cy="1252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行为变化必须</a:t>
            </a:r>
            <a:r>
              <a:rPr sz="110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及时且明显</a:t>
            </a:r>
            <a:r>
              <a:rPr sz="11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（几秒内可观察），但永远不出现「温度过低」这样的字样。玩家看到的是鱼的反应，不是系统的判词。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FUTURE /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四条鱼，四种「第一次养必定翻车」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294376" cy="1975104"/>
          </a:xfrm>
          <a:prstGeom prst="roundRect">
            <a:avLst>
              <a:gd name="adj" fmla="val 4166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50292" cy="1975104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寒冰行者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21408"/>
            <a:ext cx="479145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13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低温下进入滞育：不吃、不动、体色变深。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06624"/>
            <a:ext cx="479145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玩家几乎一定会把它当成死了然后扔掉。</a:t>
            </a: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正确的解法是等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——或者意识到「不动」本身是一个信号。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554480"/>
            <a:ext cx="5294376" cy="1975104"/>
          </a:xfrm>
          <a:prstGeom prst="roundRect">
            <a:avLst>
              <a:gd name="adj" fmla="val 4166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7064" y="1554480"/>
            <a:ext cx="50292" cy="1975104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3" y="17373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噬矿鱼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3" y="2121408"/>
            <a:ext cx="479145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13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它吃矿石，排泄物是矿渣。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3" y="2706624"/>
            <a:ext cx="479145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养殖本身就是一条资源链：喂什么矿，出什么渣。玩家要先想清楚自己缺什么材料。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12464"/>
            <a:ext cx="5294376" cy="1975104"/>
          </a:xfrm>
          <a:prstGeom prst="roundRect">
            <a:avLst>
              <a:gd name="adj" fmla="val 4166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712464"/>
            <a:ext cx="50292" cy="1975104"/>
          </a:xfrm>
          <a:prstGeom prst="roundRect">
            <a:avLst>
              <a:gd name="adj" fmla="val 36363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9534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氧气滋生者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279392"/>
            <a:ext cx="479145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13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自己产氧，但没有光就不产。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864608"/>
            <a:ext cx="479145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它必须和灯果或人工光照搭配；单独养它，缸里的溶氧反而会更低。</a:t>
            </a: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共生关系是解谜的一部分。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712464"/>
            <a:ext cx="5294376" cy="1975104"/>
          </a:xfrm>
          <a:prstGeom prst="roundRect">
            <a:avLst>
              <a:gd name="adj" fmla="val 4166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27064" y="3712464"/>
            <a:ext cx="50292" cy="1975104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3" y="389534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辐射海葵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3" y="4279392"/>
            <a:ext cx="479145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13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不主动攻击，但持续压低周围溶氧。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3" y="4864608"/>
            <a:ext cx="479145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不能和软体鱼、幼鱼同缸。它不会杀死任何东西——是环境杀死它们的，玩家很久都发现不了。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FUTURE / FARMING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海洋农业：种地不是另一个系统，是养殖的输入端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294376" cy="1298448"/>
          </a:xfrm>
          <a:prstGeom prst="roundRect">
            <a:avLst>
              <a:gd name="adj" fmla="val 63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5256" y="177393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海藻系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55648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海藻茎 / 海藻果 / 垂落海草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103120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光照方向 + 水流决定生长形态。垂落海草只挂在有水流的地方——它能当水流指示器用。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554480"/>
            <a:ext cx="5294376" cy="1298448"/>
          </a:xfrm>
          <a:prstGeom prst="roundRect">
            <a:avLst>
              <a:gd name="adj" fmla="val 63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77393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2824" y="173736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珊瑚系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1755648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珊瑚块与环状变体 / 珊瑚沙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需要「活水」（持续水流更新）+ 特定底质；失活珊瑚是失败态，同时也是建材。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35808"/>
            <a:ext cx="5294376" cy="1298448"/>
          </a:xfrm>
          <a:prstGeom prst="roundRect">
            <a:avLst>
              <a:gd name="adj" fmla="val 63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" y="3255264"/>
            <a:ext cx="50292" cy="173736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21868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嗜热菌系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236976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金 / 锈 / 橄榄三色菌席、硫藓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584448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只能在硫磺火山区的高温与硫环境中生长——把「危险群系」变成「资源群系」。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035808"/>
            <a:ext cx="5294376" cy="1298448"/>
          </a:xfrm>
          <a:prstGeom prst="roundRect">
            <a:avLst>
              <a:gd name="adj" fmla="val 63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3255264"/>
            <a:ext cx="50292" cy="173736"/>
          </a:xfrm>
          <a:prstGeom prst="roundRect">
            <a:avLst>
              <a:gd name="adj" fmla="val 36363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321868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富营养泥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3236976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有机质 + 鱼类排泄物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584448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6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发酵后成为底肥。养殖的废弃物是种植的原料。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45152"/>
            <a:ext cx="10817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底层循环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974336"/>
            <a:ext cx="1755648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111496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8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6020" y="5111496"/>
            <a:ext cx="54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96312" y="4974336"/>
            <a:ext cx="1755648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96312" y="5111496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8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排泄物 / 矿渣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6532" y="5111496"/>
            <a:ext cx="54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974336"/>
            <a:ext cx="1755648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6824" y="5111496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8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富营养泥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67044" y="5111496"/>
            <a:ext cx="54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17336" y="4974336"/>
            <a:ext cx="1755648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17336" y="5111496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8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海藻 · 珊瑚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77556" y="5111496"/>
            <a:ext cx="54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27848" y="4974336"/>
            <a:ext cx="1755648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27848" y="5111496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8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饲料 · 材料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88068" y="5111496"/>
            <a:ext cx="54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60" y="4974336"/>
            <a:ext cx="1755648" cy="512064"/>
          </a:xfrm>
          <a:prstGeom prst="roundRect">
            <a:avLst>
              <a:gd name="adj" fmla="val 14285"/>
            </a:avLst>
          </a:prstGeom>
          <a:solidFill>
            <a:srgbClr val="123A4C"/>
          </a:solidFill>
          <a:ln w="9525">
            <a:solidFill>
              <a:srgbClr val="2F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60" y="5111496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80" b="0">
                <a:solidFill>
                  <a:srgbClr val="BFE6EE"/>
                </a:solidFill>
                <a:latin typeface="Microsoft YaHei"/>
                <a:ea typeface="微软雅黑"/>
                <a:cs typeface="微软雅黑"/>
              </a:rPr>
              <a:t>回到鱼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FUTURE /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栖息站：每一块模块，都在降低某一层限制的成本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465576" cy="1700784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3465576" cy="45720"/>
          </a:xfrm>
          <a:prstGeom prst="roundRect">
            <a:avLst>
              <a:gd name="adj" fmla="val 40000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7393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气闸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06654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干湿分离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377440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进出不淹水，室内保持有氧环境。对应</a:t>
            </a:r>
            <a:r>
              <a:rPr sz="104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技术锁</a:t>
            </a: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：把「水下作业」变成「通勤」。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554480"/>
            <a:ext cx="3465576" cy="1700784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1688" y="1554480"/>
            <a:ext cx="3465576" cy="45720"/>
          </a:xfrm>
          <a:prstGeom prst="roundRect">
            <a:avLst>
              <a:gd name="adj" fmla="val 40000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77393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供气系统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06654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气体管道 · 流量计 · 充装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377440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氧气罐在站内充装；流量计告诉你哪一段漏了。对应</a:t>
            </a:r>
            <a:r>
              <a:rPr sz="104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技术锁：空气</a:t>
            </a: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1554480"/>
            <a:ext cx="3465576" cy="1700784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37575" y="1554480"/>
            <a:ext cx="3465576" cy="45720"/>
          </a:xfrm>
          <a:prstGeom prst="roundRect">
            <a:avLst>
              <a:gd name="adj" fmla="val 40000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177393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照明与供电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06654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探照灯 · 灯果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377440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照射范围内的作业不再依赖手持光源。对应</a:t>
            </a:r>
            <a:r>
              <a:rPr sz="104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物理锁：光照</a:t>
            </a: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438144"/>
            <a:ext cx="3465576" cy="1700784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438144"/>
            <a:ext cx="3465576" cy="45720"/>
          </a:xfrm>
          <a:prstGeom prst="roundRect">
            <a:avLst>
              <a:gd name="adj" fmla="val 40000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65760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观察舱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5020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有机玻璃 · 探照灯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261104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能见度问题的工程解。把「不敢下去」变成「先在舱里看」。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1688" y="3438144"/>
            <a:ext cx="3465576" cy="1700784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61688" y="3438144"/>
            <a:ext cx="3465576" cy="45720"/>
          </a:xfrm>
          <a:prstGeom prst="roundRect">
            <a:avLst>
              <a:gd name="adj" fmla="val 40000"/>
            </a:avLst>
          </a:prstGeom>
          <a:solidFill>
            <a:srgbClr val="B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365760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科研区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144" y="395020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B79BFF"/>
                </a:solidFill>
                <a:latin typeface="Microsoft YaHei"/>
                <a:ea typeface="微软雅黑"/>
                <a:cs typeface="微软雅黑"/>
              </a:rPr>
              <a:t>解剖台（2×2）· 冲洗盆 · 调查白板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4261104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样本、胶片、线索在这里变成笔记条目与新材料。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37575" y="3438144"/>
            <a:ext cx="3465576" cy="1700784"/>
          </a:xfrm>
          <a:prstGeom prst="roundRect">
            <a:avLst>
              <a:gd name="adj" fmla="val 48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37575" y="3438144"/>
            <a:ext cx="3465576" cy="45720"/>
          </a:xfrm>
          <a:prstGeom prst="roundRect">
            <a:avLst>
              <a:gd name="adj" fmla="val 40000"/>
            </a:avLst>
          </a:prstGeom>
          <a:solidFill>
            <a:srgbClr val="FF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365760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养殖区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395020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FF93B8"/>
                </a:solidFill>
                <a:latin typeface="Microsoft YaHei"/>
                <a:ea typeface="微软雅黑"/>
                <a:cs typeface="微软雅黑"/>
              </a:rPr>
              <a:t>水族馆阵列 · 海藻田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4261104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把「养活了一条」变成「养得起一群」。对应</a:t>
            </a:r>
            <a:r>
              <a:rPr sz="104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认知锁</a:t>
            </a:r>
            <a:r>
              <a:rPr sz="104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的规模化。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FUTURE /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产出循环：唯一能加速它的燃料是「理解」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01952"/>
            <a:ext cx="2048256" cy="1828800"/>
          </a:xfrm>
          <a:prstGeom prst="roundRect">
            <a:avLst>
              <a:gd name="adj" fmla="val 450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901952"/>
            <a:ext cx="2048256" cy="45720"/>
          </a:xfrm>
          <a:prstGeom prst="roundRect">
            <a:avLst>
              <a:gd name="adj" fmla="val 40000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探索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87168"/>
            <a:ext cx="17190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下潜、观测、记录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2670048"/>
            <a:ext cx="164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1901952"/>
            <a:ext cx="2048256" cy="1828800"/>
          </a:xfrm>
          <a:prstGeom prst="roundRect">
            <a:avLst>
              <a:gd name="adj" fmla="val 450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98648" y="1901952"/>
            <a:ext cx="2048256" cy="45720"/>
          </a:xfrm>
          <a:prstGeom prst="roundRect">
            <a:avLst>
              <a:gd name="adj" fmla="val 40000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21214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样本与物证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6" y="2487168"/>
            <a:ext cx="17190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标本 · 照片 · 日志 · 读数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2670048"/>
            <a:ext cx="164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11496" y="1901952"/>
            <a:ext cx="2048256" cy="1828800"/>
          </a:xfrm>
          <a:prstGeom prst="roundRect">
            <a:avLst>
              <a:gd name="adj" fmla="val 450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11496" y="1901952"/>
            <a:ext cx="2048256" cy="45720"/>
          </a:xfrm>
          <a:prstGeom prst="roundRect">
            <a:avLst>
              <a:gd name="adj" fmla="val 40000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94376" y="21214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科研设施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2487168"/>
            <a:ext cx="17190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解剖台 · 冲洗盆 · 白板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670048"/>
            <a:ext cx="164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1901952"/>
            <a:ext cx="2048256" cy="1828800"/>
          </a:xfrm>
          <a:prstGeom prst="roundRect">
            <a:avLst>
              <a:gd name="adj" fmla="val 450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24344" y="1901952"/>
            <a:ext cx="2048256" cy="45720"/>
          </a:xfrm>
          <a:prstGeom prst="roundRect">
            <a:avLst>
              <a:gd name="adj" fmla="val 40000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3" y="21214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笔记与材料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2487168"/>
            <a:ext cx="17190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条目解锁 · 新配方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670048"/>
            <a:ext cx="164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5A8FA3"/>
                </a:solidFill>
                <a:latin typeface="Microsoft YaHei"/>
                <a:ea typeface="微软雅黑"/>
                <a:cs typeface="微软雅黑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1901952"/>
            <a:ext cx="2048256" cy="1828800"/>
          </a:xfrm>
          <a:prstGeom prst="roundRect">
            <a:avLst>
              <a:gd name="adj" fmla="val 4500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37192" y="1901952"/>
            <a:ext cx="2048256" cy="45720"/>
          </a:xfrm>
          <a:prstGeom prst="roundRect">
            <a:avLst>
              <a:gd name="adj" fmla="val 40000"/>
            </a:avLst>
          </a:prstGeom>
          <a:solidFill>
            <a:srgbClr val="B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21214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新能力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487168"/>
            <a:ext cx="17190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3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更深 · 更久 · 养得活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709928" y="3986783"/>
            <a:ext cx="8622792" cy="0"/>
          </a:xfrm>
          <a:prstGeom prst="line">
            <a:avLst/>
          </a:prstGeom>
          <a:ln w="12700">
            <a:solidFill>
              <a:srgbClr val="3F8C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742432" y="3822191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23A4C"/>
          </a:solidFill>
          <a:ln w="9525">
            <a:solidFill>
              <a:srgbClr val="3F8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42432" y="389534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循环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462272"/>
            <a:ext cx="10817352" cy="1371600"/>
          </a:xfrm>
          <a:prstGeom prst="roundRect">
            <a:avLst>
              <a:gd name="adj" fmla="val 6000"/>
            </a:avLst>
          </a:prstGeom>
          <a:solidFill>
            <a:srgbClr val="0F2A39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5256" y="4722876"/>
            <a:ext cx="50292" cy="173736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654296"/>
            <a:ext cx="10232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为什么这个循环能自持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993385"/>
            <a:ext cx="10378440" cy="767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每一圈都不只是「变强」，而是</a:t>
            </a:r>
            <a:r>
              <a:rPr sz="120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多懂一点</a:t>
            </a:r>
            <a:r>
              <a:rPr sz="120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：材料变多是副产品，真正的主产品是笔记里那条「原来如此」。玩家越理解世界，越能抵达世界更深处——而更深处又需要新的理解。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里程碑：由「系统能不能跑通」决定，不由「内容够不够多」决定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10817352" cy="713232"/>
          </a:xfrm>
          <a:prstGeom prst="roundRect">
            <a:avLst>
              <a:gd name="adj" fmla="val 115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72768"/>
            <a:ext cx="50292" cy="713232"/>
          </a:xfrm>
          <a:prstGeom prst="roundRect">
            <a:avLst>
              <a:gd name="adj" fmla="val 36363"/>
            </a:avLst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17922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生态位补全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1965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1–2 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80136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中层海与盐镜峡物种补齐；巨型章鱼触手的完整躯体形态。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95728"/>
            <a:ext cx="10817352" cy="713232"/>
          </a:xfrm>
          <a:prstGeom prst="roundRect">
            <a:avLst>
              <a:gd name="adj" fmla="val 115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395728"/>
            <a:ext cx="50292" cy="713232"/>
          </a:xfrm>
          <a:prstGeom prst="roundRect">
            <a:avLst>
              <a:gd name="adj" fmla="val 36363"/>
            </a:avLst>
          </a:prstGeom>
          <a:solidFill>
            <a:srgbClr val="6B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151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6BB8FF"/>
                </a:solidFill>
                <a:latin typeface="Microsoft YaHei"/>
                <a:ea typeface="微软雅黑"/>
                <a:cs typeface="微软雅黑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4" y="26151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线索系统 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4261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2–3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62432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「所思所想」文本框架；探测器线索化；旧日志与旧胶卷两类遗留物落地。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18688"/>
            <a:ext cx="10817352" cy="713232"/>
          </a:xfrm>
          <a:prstGeom prst="roundRect">
            <a:avLst>
              <a:gd name="adj" fmla="val 115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218688"/>
            <a:ext cx="50292" cy="713232"/>
          </a:xfrm>
          <a:prstGeom prst="roundRect">
            <a:avLst>
              <a:gd name="adj" fmla="val 36363"/>
            </a:avLst>
          </a:prstGeom>
          <a:solidFill>
            <a:srgbClr val="FF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4381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FB13D"/>
                </a:solidFill>
                <a:latin typeface="Microsoft YaHei"/>
                <a:ea typeface="微软雅黑"/>
                <a:cs typeface="微软雅黑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34381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饲养原型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46557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3–4 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44728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八参数模型 + 行为表达 + 失败解锁；三条鱼完整跑通。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10817352" cy="713232"/>
          </a:xfrm>
          <a:prstGeom prst="roundRect">
            <a:avLst>
              <a:gd name="adj" fmla="val 115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4041648"/>
            <a:ext cx="50292" cy="713232"/>
          </a:xfrm>
          <a:prstGeom prst="roundRect">
            <a:avLst>
              <a:gd name="adj" fmla="val 36363"/>
            </a:avLst>
          </a:prstGeom>
          <a:solidFill>
            <a:srgbClr val="8CE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6110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8CE06A"/>
                </a:solidFill>
                <a:latin typeface="Microsoft YaHei"/>
                <a:ea typeface="微软雅黑"/>
                <a:cs typeface="微软雅黑"/>
              </a:rPr>
              <a:t>M4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9344" y="42611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基地与种植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28853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4–6 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27024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气闸 / 供气 / 养殖区模块；海藻田与富营养泥循环。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864608"/>
            <a:ext cx="10817352" cy="713232"/>
          </a:xfrm>
          <a:prstGeom prst="roundRect">
            <a:avLst>
              <a:gd name="adj" fmla="val 11538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" y="4864608"/>
            <a:ext cx="50292" cy="713232"/>
          </a:xfrm>
          <a:prstGeom prst="roundRect">
            <a:avLst>
              <a:gd name="adj" fmla="val 36363"/>
            </a:avLst>
          </a:prstGeom>
          <a:solidFill>
            <a:srgbClr val="B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0840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B79BFF"/>
                </a:solidFill>
                <a:latin typeface="Microsoft YaHei"/>
                <a:ea typeface="微软雅黑"/>
                <a:cs typeface="微软雅黑"/>
              </a:rPr>
              <a:t>M5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9344" y="50840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主线收束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1114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6A6B5"/>
                </a:solidFill>
                <a:latin typeface="Microsoft YaHei"/>
                <a:ea typeface="微软雅黑"/>
                <a:cs typeface="微软雅黑"/>
              </a:rPr>
              <a:t>6–8 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509320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K-17 之后的下一条主线；验证「任意入口可达终点」。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今天需要拍板的五件事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43584"/>
            <a:ext cx="10817352" cy="0"/>
          </a:xfrm>
          <a:prstGeom prst="line">
            <a:avLst/>
          </a:prstGeom>
          <a:ln w="11430">
            <a:solidFill>
              <a:srgbClr val="2F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AQUANAUT  ·  海洋博物学模组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38251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>
                <a:solidFill>
                  <a:srgbClr val="7099AA"/>
                </a:solidFill>
                <a:latin typeface="Microsoft YaHei"/>
                <a:ea typeface="微软雅黑"/>
                <a:cs typeface="微软雅黑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10817352" cy="786384"/>
          </a:xfrm>
          <a:prstGeom prst="roundRect">
            <a:avLst>
              <a:gd name="adj" fmla="val 1046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384048" cy="786384"/>
          </a:xfrm>
          <a:prstGeom prst="roundRect">
            <a:avLst>
              <a:gd name="adj" fmla="val 9523"/>
            </a:avLst>
          </a:prstGeom>
          <a:solidFill>
            <a:srgbClr val="12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1051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1682496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设计宪法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956816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三层锁（物理 / 技术 / 认知）作为长期设计约束，是否同意？写进 CONTRIBUTING，后续内容一律按它审。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50592"/>
            <a:ext cx="10817352" cy="786384"/>
          </a:xfrm>
          <a:prstGeom prst="roundRect">
            <a:avLst>
              <a:gd name="adj" fmla="val 1046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450592"/>
            <a:ext cx="384048" cy="786384"/>
          </a:xfrm>
          <a:prstGeom prst="roundRect">
            <a:avLst>
              <a:gd name="adj" fmla="val 9523"/>
            </a:avLst>
          </a:prstGeom>
          <a:solidFill>
            <a:srgbClr val="12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0662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257860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线索规范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2852928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「所思所想」的公式（观察 + 细节 + 疑问）与三条语气规范，是否作为可执行的写作标准？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46704"/>
            <a:ext cx="10817352" cy="786384"/>
          </a:xfrm>
          <a:prstGeom prst="roundRect">
            <a:avLst>
              <a:gd name="adj" fmla="val 1046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346704"/>
            <a:ext cx="384048" cy="786384"/>
          </a:xfrm>
          <a:prstGeom prst="roundRect">
            <a:avLst>
              <a:gd name="adj" fmla="val 9523"/>
            </a:avLst>
          </a:prstGeom>
          <a:solidFill>
            <a:srgbClr val="12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0273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34747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优先级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749040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M2（线索系统）与 M3（饲养原型）谁先？</a:t>
            </a: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建议 M2 先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——饲养的行为表达依赖线索文本框架。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42816"/>
            <a:ext cx="10817352" cy="786384"/>
          </a:xfrm>
          <a:prstGeom prst="roundRect">
            <a:avLst>
              <a:gd name="adj" fmla="val 1046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242816"/>
            <a:ext cx="384048" cy="786384"/>
          </a:xfrm>
          <a:prstGeom prst="roundRect">
            <a:avLst>
              <a:gd name="adj" fmla="val 9523"/>
            </a:avLst>
          </a:prstGeom>
          <a:solidFill>
            <a:srgbClr val="12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988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437083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卡死保护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4645152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是否允许 L1 明示线索？</a:t>
            </a: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建议允许，占比 ≤ 20%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，且只回答「下一步在哪」，不回答「为什么」。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38928"/>
            <a:ext cx="10817352" cy="786384"/>
          </a:xfrm>
          <a:prstGeom prst="roundRect">
            <a:avLst>
              <a:gd name="adj" fmla="val 10465"/>
            </a:avLst>
          </a:prstGeom>
          <a:solidFill>
            <a:srgbClr val="0B2230"/>
          </a:solidFill>
          <a:ln w="9525">
            <a:solidFill>
              <a:srgbClr val="2F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138928"/>
            <a:ext cx="384048" cy="786384"/>
          </a:xfrm>
          <a:prstGeom prst="roundRect">
            <a:avLst>
              <a:gd name="adj" fmla="val 9523"/>
            </a:avLst>
          </a:prstGeom>
          <a:solidFill>
            <a:srgbClr val="12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9496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5296" y="526694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数据驱动边界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" y="5541264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饲养参数是否也走 JSON，让数据包作者可以加鱼？</a:t>
            </a:r>
            <a:r>
              <a:rPr sz="1080" b="1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建议是</a:t>
            </a:r>
            <a:r>
              <a:rPr sz="1080" b="0">
                <a:solidFill>
                  <a:srgbClr val="AFCBD8"/>
                </a:solidFill>
                <a:latin typeface="Microsoft YaHei"/>
                <a:ea typeface="微软雅黑"/>
                <a:cs typeface="微软雅黑"/>
              </a:rPr>
              <a:t>，代价是要提前定好参数 schema。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cl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410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57984"/>
            <a:ext cx="91440" cy="1481328"/>
          </a:xfrm>
          <a:prstGeom prst="rect">
            <a:avLst/>
          </a:prstGeom>
          <a:solidFill>
            <a:srgbClr val="35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我们卖的不是一片海，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Microsoft YaHei"/>
                <a:ea typeface="微软雅黑"/>
                <a:cs typeface="微软雅黑"/>
              </a:rPr>
              <a:t>是一次「终于看懂了」的时刻。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03904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35E5C8"/>
                </a:solidFill>
                <a:latin typeface="Microsoft YaHei"/>
                <a:ea typeface="微软雅黑"/>
                <a:cs typeface="微软雅黑"/>
              </a:rPr>
              <a:t>Aquanaut · 潜航员计划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4315968"/>
            <a:ext cx="4663440" cy="0"/>
          </a:xfrm>
          <a:prstGeom prst="line">
            <a:avLst/>
          </a:prstGeom>
          <a:ln w="12700">
            <a:solidFill>
              <a:srgbClr val="478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88720" y="45171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8FAAB6"/>
                </a:solidFill>
                <a:latin typeface="Microsoft YaHei"/>
                <a:ea typeface="微软雅黑"/>
                <a:cs typeface="微软雅黑"/>
              </a:rPr>
              <a:t>2026 年 10 月 3 日　·　项目路线评审会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